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f9714d51f9467c" /><Relationship Type="http://schemas.openxmlformats.org/officeDocument/2006/relationships/extended-properties" Target="/docProps/app.xml" Id="Rbc3ce96f731f4028" /><Relationship Type="http://schemas.openxmlformats.org/officeDocument/2006/relationships/officeDocument" Target="/ppt/presentation.xml" Id="R1ef547de1d0747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4d7435671d4cd6"/>
  </p:sldMasterIdLst>
  <p:notesMasterIdLst>
    <p:notesMasterId xmlns:r="http://schemas.openxmlformats.org/officeDocument/2006/relationships" r:id="R9ba8ac92830c47c6"/>
  </p:notesMasterIdLst>
  <p:sldIdLst>
    <p:sldId xmlns:r="http://schemas.openxmlformats.org/officeDocument/2006/relationships" id="256" r:id="R1ec8fc69b75e4711"/>
    <p:sldId xmlns:r="http://schemas.openxmlformats.org/officeDocument/2006/relationships" id="257" r:id="R314749786c764dad"/>
    <p:sldId xmlns:r="http://schemas.openxmlformats.org/officeDocument/2006/relationships" id="258" r:id="R6c777a1be3df4b29"/>
    <p:sldId xmlns:r="http://schemas.openxmlformats.org/officeDocument/2006/relationships" id="259" r:id="Rd5655aebff66486e"/>
    <p:sldId xmlns:r="http://schemas.openxmlformats.org/officeDocument/2006/relationships" id="260" r:id="Rbe6732f8d12d48d2"/>
    <p:sldId xmlns:r="http://schemas.openxmlformats.org/officeDocument/2006/relationships" id="261" r:id="Ra006d6b3d28b461d"/>
    <p:sldId xmlns:r="http://schemas.openxmlformats.org/officeDocument/2006/relationships" id="262" r:id="R1bd4fd8727b14e60"/>
    <p:sldId xmlns:r="http://schemas.openxmlformats.org/officeDocument/2006/relationships" id="263" r:id="Rec3f17ee5b5249cd"/>
    <p:sldId xmlns:r="http://schemas.openxmlformats.org/officeDocument/2006/relationships" id="264" r:id="Re593ae83efc64906"/>
    <p:sldId xmlns:r="http://schemas.openxmlformats.org/officeDocument/2006/relationships" id="265" r:id="R18ea999a9b5b44ef"/>
    <p:sldId xmlns:r="http://schemas.openxmlformats.org/officeDocument/2006/relationships" id="266" r:id="Rc8382401ffe340d2"/>
    <p:sldId xmlns:r="http://schemas.openxmlformats.org/officeDocument/2006/relationships" id="267" r:id="R72cc5e9c5b724a35"/>
    <p:sldId xmlns:r="http://schemas.openxmlformats.org/officeDocument/2006/relationships" id="268" r:id="R3255443bd32a4e92"/>
    <p:sldId xmlns:r="http://schemas.openxmlformats.org/officeDocument/2006/relationships" id="269" r:id="Rc333975379924d2d"/>
    <p:sldId xmlns:r="http://schemas.openxmlformats.org/officeDocument/2006/relationships" id="270" r:id="R6d2d900a8ba541f1"/>
    <p:sldId xmlns:r="http://schemas.openxmlformats.org/officeDocument/2006/relationships" id="271" r:id="R550af4485c4e49c1"/>
    <p:sldId xmlns:r="http://schemas.openxmlformats.org/officeDocument/2006/relationships" id="272" r:id="R4384133fbd5747f3"/>
    <p:sldId xmlns:r="http://schemas.openxmlformats.org/officeDocument/2006/relationships" id="273" r:id="Rdd1ff3525d9e44b8"/>
    <p:sldId xmlns:r="http://schemas.openxmlformats.org/officeDocument/2006/relationships" id="274" r:id="Rf279229f215f4d7f"/>
    <p:sldId xmlns:r="http://schemas.openxmlformats.org/officeDocument/2006/relationships" id="275" r:id="R1c78d33f72684a36"/>
    <p:sldId xmlns:r="http://schemas.openxmlformats.org/officeDocument/2006/relationships" id="276" r:id="R2c4cd013aa8f4481"/>
    <p:sldId xmlns:r="http://schemas.openxmlformats.org/officeDocument/2006/relationships" id="277" r:id="Re7f3188e4ebe4b35"/>
    <p:sldId xmlns:r="http://schemas.openxmlformats.org/officeDocument/2006/relationships" id="278" r:id="R2365ddd8cb9b4542"/>
    <p:sldId xmlns:r="http://schemas.openxmlformats.org/officeDocument/2006/relationships" id="279" r:id="Rcb7c604c6f3744b9"/>
    <p:sldId xmlns:r="http://schemas.openxmlformats.org/officeDocument/2006/relationships" id="280" r:id="Rb1733185461f490a"/>
    <p:sldId xmlns:r="http://schemas.openxmlformats.org/officeDocument/2006/relationships" id="281" r:id="R6d43bc6bf2e84016"/>
    <p:sldId xmlns:r="http://schemas.openxmlformats.org/officeDocument/2006/relationships" id="282" r:id="Rc9e92692f66c4f70"/>
    <p:sldId xmlns:r="http://schemas.openxmlformats.org/officeDocument/2006/relationships" id="283" r:id="R78e2f1184d8741e0"/>
    <p:sldId xmlns:r="http://schemas.openxmlformats.org/officeDocument/2006/relationships" id="284" r:id="Rc1ef2629ce594c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9df4b074d04f2d" /><Relationship Type="http://schemas.openxmlformats.org/officeDocument/2006/relationships/slideMaster" Target="/ppt/slideMasters/slideMaster1.xml" Id="R2e4d7435671d4cd6" /><Relationship Type="http://schemas.openxmlformats.org/officeDocument/2006/relationships/notesMaster" Target="/ppt/notesMasters/notesMaster1.xml" Id="R9ba8ac92830c47c6" /><Relationship Type="http://schemas.openxmlformats.org/officeDocument/2006/relationships/presProps" Target="/ppt/presProps.xml" Id="Rbf443bc860f24ad3" /><Relationship Type="http://schemas.openxmlformats.org/officeDocument/2006/relationships/viewProps" Target="/ppt/viewProps.xml" Id="R6b5531c255374687" /><Relationship Type="http://schemas.openxmlformats.org/officeDocument/2006/relationships/tableStyles" Target="/ppt/tableStyles.xml" Id="R0e8b523ce4b848af" /><Relationship Type="http://schemas.openxmlformats.org/officeDocument/2006/relationships/slide" Target="/ppt/slides/slide1.xml" Id="R1ec8fc69b75e4711" /><Relationship Type="http://schemas.openxmlformats.org/officeDocument/2006/relationships/slide" Target="/ppt/slides/slide2.xml" Id="R314749786c764dad" /><Relationship Type="http://schemas.openxmlformats.org/officeDocument/2006/relationships/slide" Target="/ppt/slides/slide3.xml" Id="R6c777a1be3df4b29" /><Relationship Type="http://schemas.openxmlformats.org/officeDocument/2006/relationships/slide" Target="/ppt/slides/slide4.xml" Id="Rd5655aebff66486e" /><Relationship Type="http://schemas.openxmlformats.org/officeDocument/2006/relationships/slide" Target="/ppt/slides/slide5.xml" Id="Rbe6732f8d12d48d2" /><Relationship Type="http://schemas.openxmlformats.org/officeDocument/2006/relationships/slide" Target="/ppt/slides/slide6.xml" Id="Ra006d6b3d28b461d" /><Relationship Type="http://schemas.openxmlformats.org/officeDocument/2006/relationships/slide" Target="/ppt/slides/slide7.xml" Id="R1bd4fd8727b14e60" /><Relationship Type="http://schemas.openxmlformats.org/officeDocument/2006/relationships/slide" Target="/ppt/slides/slide8.xml" Id="Rec3f17ee5b5249cd" /><Relationship Type="http://schemas.openxmlformats.org/officeDocument/2006/relationships/slide" Target="/ppt/slides/slide9.xml" Id="Re593ae83efc64906" /><Relationship Type="http://schemas.openxmlformats.org/officeDocument/2006/relationships/slide" Target="/ppt/slides/slide10.xml" Id="R18ea999a9b5b44ef" /><Relationship Type="http://schemas.openxmlformats.org/officeDocument/2006/relationships/slide" Target="/ppt/slides/slide11.xml" Id="Rc8382401ffe340d2" /><Relationship Type="http://schemas.openxmlformats.org/officeDocument/2006/relationships/slide" Target="/ppt/slides/slide12.xml" Id="R72cc5e9c5b724a35" /><Relationship Type="http://schemas.openxmlformats.org/officeDocument/2006/relationships/slide" Target="/ppt/slides/slide13.xml" Id="R3255443bd32a4e92" /><Relationship Type="http://schemas.openxmlformats.org/officeDocument/2006/relationships/slide" Target="/ppt/slides/slide14.xml" Id="Rc333975379924d2d" /><Relationship Type="http://schemas.openxmlformats.org/officeDocument/2006/relationships/slide" Target="/ppt/slides/slide15.xml" Id="R6d2d900a8ba541f1" /><Relationship Type="http://schemas.openxmlformats.org/officeDocument/2006/relationships/slide" Target="/ppt/slides/slide16.xml" Id="R550af4485c4e49c1" /><Relationship Type="http://schemas.openxmlformats.org/officeDocument/2006/relationships/slide" Target="/ppt/slides/slide17.xml" Id="R4384133fbd5747f3" /><Relationship Type="http://schemas.openxmlformats.org/officeDocument/2006/relationships/slide" Target="/ppt/slides/slide18.xml" Id="Rdd1ff3525d9e44b8" /><Relationship Type="http://schemas.openxmlformats.org/officeDocument/2006/relationships/slide" Target="/ppt/slides/slide19.xml" Id="Rf279229f215f4d7f" /><Relationship Type="http://schemas.openxmlformats.org/officeDocument/2006/relationships/slide" Target="/ppt/slides/slide20.xml" Id="R1c78d33f72684a36" /><Relationship Type="http://schemas.openxmlformats.org/officeDocument/2006/relationships/slide" Target="/ppt/slides/slide21.xml" Id="R2c4cd013aa8f4481" /><Relationship Type="http://schemas.openxmlformats.org/officeDocument/2006/relationships/slide" Target="/ppt/slides/slide22.xml" Id="Re7f3188e4ebe4b35" /><Relationship Type="http://schemas.openxmlformats.org/officeDocument/2006/relationships/slide" Target="/ppt/slides/slide23.xml" Id="R2365ddd8cb9b4542" /><Relationship Type="http://schemas.openxmlformats.org/officeDocument/2006/relationships/slide" Target="/ppt/slides/slide24.xml" Id="Rcb7c604c6f3744b9" /><Relationship Type="http://schemas.openxmlformats.org/officeDocument/2006/relationships/slide" Target="/ppt/slides/slide25.xml" Id="Rb1733185461f490a" /><Relationship Type="http://schemas.openxmlformats.org/officeDocument/2006/relationships/slide" Target="/ppt/slides/slide26.xml" Id="R6d43bc6bf2e84016" /><Relationship Type="http://schemas.openxmlformats.org/officeDocument/2006/relationships/slide" Target="/ppt/slides/slide27.xml" Id="Rc9e92692f66c4f70" /><Relationship Type="http://schemas.openxmlformats.org/officeDocument/2006/relationships/slide" Target="/ppt/slides/slide28.xml" Id="R78e2f1184d8741e0" /><Relationship Type="http://schemas.openxmlformats.org/officeDocument/2006/relationships/slide" Target="/ppt/slides/slide29.xml" Id="Rc1ef2629ce594c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4584a3692740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2a73a60bd24eee" /><Relationship Type="http://schemas.openxmlformats.org/officeDocument/2006/relationships/notesMaster" Target="/ppt/notesMasters/notesMaster1.xml" Id="Ra3400b7ad52349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e7ec0efc3345ab" /><Relationship Type="http://schemas.openxmlformats.org/officeDocument/2006/relationships/notesMaster" Target="/ppt/notesMasters/notesMaster1.xml" Id="Rbd1d3bd2e46b45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eac979efb04ce0" /><Relationship Type="http://schemas.openxmlformats.org/officeDocument/2006/relationships/notesMaster" Target="/ppt/notesMasters/notesMaster1.xml" Id="Ra4462bae12b940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fe4eceab0c4987" /><Relationship Type="http://schemas.openxmlformats.org/officeDocument/2006/relationships/notesMaster" Target="/ppt/notesMasters/notesMaster1.xml" Id="Rbe38818ed4fd4c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6caeddbfbb416f" /><Relationship Type="http://schemas.openxmlformats.org/officeDocument/2006/relationships/notesMaster" Target="/ppt/notesMasters/notesMaster1.xml" Id="Rda66bbeaa7db44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e36f52b79946f0" /><Relationship Type="http://schemas.openxmlformats.org/officeDocument/2006/relationships/notesMaster" Target="/ppt/notesMasters/notesMaster1.xml" Id="Rddf2408007ea4b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9f868102be4006" /><Relationship Type="http://schemas.openxmlformats.org/officeDocument/2006/relationships/notesMaster" Target="/ppt/notesMasters/notesMaster1.xml" Id="Rf07e26e84bae4b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e74baf21e04ac3" /><Relationship Type="http://schemas.openxmlformats.org/officeDocument/2006/relationships/notesMaster" Target="/ppt/notesMasters/notesMaster1.xml" Id="R794a894437eb41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40b8f30e6d44cd" /><Relationship Type="http://schemas.openxmlformats.org/officeDocument/2006/relationships/notesMaster" Target="/ppt/notesMasters/notesMaster1.xml" Id="R8c180d698a564a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cba50d373c4670" /><Relationship Type="http://schemas.openxmlformats.org/officeDocument/2006/relationships/notesMaster" Target="/ppt/notesMasters/notesMaster1.xml" Id="Red77ed60527d42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e29d74000c47d5" /><Relationship Type="http://schemas.openxmlformats.org/officeDocument/2006/relationships/notesMaster" Target="/ppt/notesMasters/notesMaster1.xml" Id="R7315981e19ec45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970386349b4c47" /><Relationship Type="http://schemas.openxmlformats.org/officeDocument/2006/relationships/notesMaster" Target="/ppt/notesMasters/notesMaster1.xml" Id="R070c5e2a3cc24f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833e03326a46ed" /><Relationship Type="http://schemas.openxmlformats.org/officeDocument/2006/relationships/notesMaster" Target="/ppt/notesMasters/notesMaster1.xml" Id="R1dd8ed4ef33e44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f9e0aa25dc4f92" /><Relationship Type="http://schemas.openxmlformats.org/officeDocument/2006/relationships/notesMaster" Target="/ppt/notesMasters/notesMaster1.xml" Id="R20d3c3b6949340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5fd4493db74330" /><Relationship Type="http://schemas.openxmlformats.org/officeDocument/2006/relationships/notesMaster" Target="/ppt/notesMasters/notesMaster1.xml" Id="Ra5111a35eea441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5ec887e7d448a7" /><Relationship Type="http://schemas.openxmlformats.org/officeDocument/2006/relationships/notesMaster" Target="/ppt/notesMasters/notesMaster1.xml" Id="Rde4be1f643e542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bdaa7c01474ff0" /><Relationship Type="http://schemas.openxmlformats.org/officeDocument/2006/relationships/notesMaster" Target="/ppt/notesMasters/notesMaster1.xml" Id="R622d8b69d41e46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e55fe9960c4b77" /><Relationship Type="http://schemas.openxmlformats.org/officeDocument/2006/relationships/notesMaster" Target="/ppt/notesMasters/notesMaster1.xml" Id="Re6e87efafbb340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e6aa3b92c74294" /><Relationship Type="http://schemas.openxmlformats.org/officeDocument/2006/relationships/notesMaster" Target="/ppt/notesMasters/notesMaster1.xml" Id="Rdffb73af5ff64b8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ab99edb36e4cea" /><Relationship Type="http://schemas.openxmlformats.org/officeDocument/2006/relationships/notesMaster" Target="/ppt/notesMasters/notesMaster1.xml" Id="Rce6d0b474af641a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e5dab9b5af841e1" /><Relationship Type="http://schemas.openxmlformats.org/officeDocument/2006/relationships/notesMaster" Target="/ppt/notesMasters/notesMaster1.xml" Id="R7d8a547bfb294c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d38e00190048e6" /><Relationship Type="http://schemas.openxmlformats.org/officeDocument/2006/relationships/notesMaster" Target="/ppt/notesMasters/notesMaster1.xml" Id="Ra9c0b534d8f147a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e053c6497a43e5" /><Relationship Type="http://schemas.openxmlformats.org/officeDocument/2006/relationships/notesMaster" Target="/ppt/notesMasters/notesMaster1.xml" Id="R6f0155a792a147a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cf906d0c07642cd" /><Relationship Type="http://schemas.openxmlformats.org/officeDocument/2006/relationships/notesMaster" Target="/ppt/notesMasters/notesMaster1.xml" Id="Rc3a5476cdb394a1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1d686d88fc34f28" /><Relationship Type="http://schemas.openxmlformats.org/officeDocument/2006/relationships/notesMaster" Target="/ppt/notesMasters/notesMaster1.xml" Id="R155bda0fcfe542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02c322e86224299" /><Relationship Type="http://schemas.openxmlformats.org/officeDocument/2006/relationships/notesMaster" Target="/ppt/notesMasters/notesMaster1.xml" Id="R293e9db642134c2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1819c5d53524dde" /><Relationship Type="http://schemas.openxmlformats.org/officeDocument/2006/relationships/notesMaster" Target="/ppt/notesMasters/notesMaster1.xml" Id="R0ca21d5d5c1d4b5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5a4d51e635a459e" /><Relationship Type="http://schemas.openxmlformats.org/officeDocument/2006/relationships/notesMaster" Target="/ppt/notesMasters/notesMaster1.xml" Id="R48f881f2e8d94ec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20397071f794c49" /><Relationship Type="http://schemas.openxmlformats.org/officeDocument/2006/relationships/notesMaster" Target="/ppt/notesMasters/notesMaster1.xml" Id="Rea0cf1c3e8c34b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do grupo 3. O conteúdo e os resultados pertencem ao laboratório próprio.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https://csrc.nist.gov/pubs/sp/800/218/final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https://csrc.nist.gov/pubs/sp/800/218/final</a:t>
            </a:r>
          </a:p>
          <a:p xmlns:a="http://schemas.openxmlformats.org/drawingml/2006/main">
            <a:r>
              <a:t>https://docs.npmjs.com/cli/v11/commands/npm-sbom/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https://github.com/ajinabraham/njsscan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https://github.com/ajinabraham/njsscan</a:t>
            </a:r>
          </a:p>
          <a:p xmlns:a="http://schemas.openxmlformats.org/drawingml/2006/main">
            <a:r>
              <a:t>reports/inseguro/njsscan.json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docs/ANALISE-ACHADOS.md</a:t>
            </a:r>
          </a:p>
          <a:p xmlns:a="http://schemas.openxmlformats.org/drawingml/2006/main">
            <a:r>
              <a:t>https://cwe.mitre.org/data/definitions/79.html</a:t>
            </a:r>
          </a:p>
          <a:p xmlns:a="http://schemas.openxmlformats.org/drawingml/2006/main">
            <a:r>
              <a:t>https://cwe.mitre.org/data/definitions/78.html</a:t>
            </a:r>
          </a:p>
          <a:p xmlns:a="http://schemas.openxmlformats.org/drawingml/2006/main">
            <a:r>
              <a:t>https://cwe.mitre.org/data/definitions/95.html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targets/inseguro/app.js</a:t>
            </a:r>
          </a:p>
          <a:p xmlns:a="http://schemas.openxmlformats.org/drawingml/2006/main">
            <a:r>
              <a:t>targets/corrigido/app.js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targets/inseguro/app.js</a:t>
            </a:r>
          </a:p>
          <a:p xmlns:a="http://schemas.openxmlformats.org/drawingml/2006/main">
            <a:r>
              <a:t>targets/corrigido/app.js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https://docs.npmjs.com/cli/v11/commands/npm-audit/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https://docs.npmjs.com/cli/v11/commands/npm-audit/</a:t>
            </a:r>
          </a:p>
          <a:p xmlns:a="http://schemas.openxmlformats.org/drawingml/2006/main">
            <a:r>
              <a:t>reports/inseguro/npm-audit.json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https://docs.npmjs.com/cli/v11/commands/npm-audit/</a:t>
            </a:r>
          </a:p>
          <a:p xmlns:a="http://schemas.openxmlformats.org/drawingml/2006/main">
            <a:r>
              <a:t>reports/corrigido/npm-audit.json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https://github.com/datreeio/datree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iac/pod-inseguro.yaml</a:t>
            </a:r>
          </a:p>
          <a:p xmlns:a="http://schemas.openxmlformats.org/drawingml/2006/main">
            <a:r>
              <a:t>iac/pod-corrigido.yaml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https://docs.stackhawk.com/hawkscan/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https://docs.stackhawk.com/hawkscan/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reports/inseguro/gate.json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reports/corrigido/gate.json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https://github.com/garrotii/cp01-cloud-security-grupo-3/actions/runs/35144999487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https://github.com/garrotii/cp01-cloud-security-grupo-3/actions/runs/35144977032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https://github.com/ajinabraham/njsscan</a:t>
            </a:r>
          </a:p>
          <a:p xmlns:a="http://schemas.openxmlformats.org/drawingml/2006/main">
            <a:r>
              <a:t>https://docs.npmjs.com/cli/v11/commands/npm-audit/</a:t>
            </a:r>
          </a:p>
          <a:p xmlns:a="http://schemas.openxmlformats.org/drawingml/2006/main">
            <a:r>
              <a:t>https://github.com/datreeio/datree</a:t>
            </a:r>
          </a:p>
          <a:p xmlns:a="http://schemas.openxmlformats.org/drawingml/2006/main">
            <a:r>
              <a:t>https://docs.stackhawk.com/hawkscan/</a:t>
            </a:r>
          </a:p>
          <a:p xmlns:a="http://schemas.openxmlformats.org/drawingml/2006/main">
            <a:r>
              <a:t>https://csrc.nist.gov/pubs/sp/800/218/final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https://github.com/ajinabraham/njsscan</a:t>
            </a:r>
          </a:p>
          <a:p xmlns:a="http://schemas.openxmlformats.org/drawingml/2006/main">
            <a:r>
              <a:t>https://docs.npmjs.com/cli/v11/commands/npm-audit/</a:t>
            </a:r>
          </a:p>
          <a:p xmlns:a="http://schemas.openxmlformats.org/drawingml/2006/main">
            <a:r>
              <a:t>https://github.com/datreeio/datree</a:t>
            </a:r>
          </a:p>
          <a:p xmlns:a="http://schemas.openxmlformats.org/drawingml/2006/main">
            <a:r>
              <a:t>https://docs.stackhawk.com/hawkscan/</a:t>
            </a:r>
          </a:p>
          <a:p xmlns:a="http://schemas.openxmlformats.org/drawingml/2006/main">
            <a:r>
              <a:t>https://csrc.nist.gov/pubs/sp/800/218/final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ebfac9a4b42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14741571f4389" /><Relationship Type="http://schemas.openxmlformats.org/officeDocument/2006/relationships/slideLayout" Target="/ppt/slideLayouts/slideLayout1.xml" Id="R23e907fc659e47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e907fc659e47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7b80753484c1e" /><Relationship Type="http://schemas.openxmlformats.org/officeDocument/2006/relationships/image" Target="/ppt/media/image.png" Id="R7e4c4e546b10426c" /><Relationship Type="http://schemas.openxmlformats.org/officeDocument/2006/relationships/notesSlide" Target="/ppt/notesSlides/notesSlide1.xml" Id="R4954f15fdbf046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6877fb12e4236" /><Relationship Type="http://schemas.openxmlformats.org/officeDocument/2006/relationships/image" Target="/ppt/media/image.png" Id="Rc9462ca2b97f4bf8" /><Relationship Type="http://schemas.openxmlformats.org/officeDocument/2006/relationships/notesSlide" Target="/ppt/notesSlides/notesSlide2.xml" Id="R212426dedb994c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b523d6fc84e26" /><Relationship Type="http://schemas.openxmlformats.org/officeDocument/2006/relationships/image" Target="/ppt/media/image.png" Id="R5244111e66c94c3c" /><Relationship Type="http://schemas.openxmlformats.org/officeDocument/2006/relationships/notesSlide" Target="/ppt/notesSlides/notesSlide3.xml" Id="Rd003daf2ee2e42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742fb31804af2" /><Relationship Type="http://schemas.openxmlformats.org/officeDocument/2006/relationships/image" Target="/ppt/media/image.png" Id="R07d91d8faf16425f" /><Relationship Type="http://schemas.openxmlformats.org/officeDocument/2006/relationships/notesSlide" Target="/ppt/notesSlides/notesSlide4.xml" Id="Rc158f13e825446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800793c794095" /><Relationship Type="http://schemas.openxmlformats.org/officeDocument/2006/relationships/image" Target="/ppt/media/image.png" Id="Rdd8c5a7c3c164a68" /><Relationship Type="http://schemas.openxmlformats.org/officeDocument/2006/relationships/notesSlide" Target="/ppt/notesSlides/notesSlide5.xml" Id="Rb3d8e9598ad342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628751cbb44ed" /><Relationship Type="http://schemas.openxmlformats.org/officeDocument/2006/relationships/image" Target="/ppt/media/image.png" Id="R18c885c78fdf4f9c" /><Relationship Type="http://schemas.openxmlformats.org/officeDocument/2006/relationships/notesSlide" Target="/ppt/notesSlides/notesSlide6.xml" Id="R65c452d9a77b41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8ddf417964765" /><Relationship Type="http://schemas.openxmlformats.org/officeDocument/2006/relationships/image" Target="/ppt/media/image.png" Id="R5ce70cb30ad440b6" /><Relationship Type="http://schemas.openxmlformats.org/officeDocument/2006/relationships/notesSlide" Target="/ppt/notesSlides/notesSlide7.xml" Id="R42a3456bfe264c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672642728478b" /><Relationship Type="http://schemas.openxmlformats.org/officeDocument/2006/relationships/image" Target="/ppt/media/image.png" Id="Re6152ce94b47434b" /><Relationship Type="http://schemas.openxmlformats.org/officeDocument/2006/relationships/image" Target="/ppt/media/image2.png" Id="R801bdfda676545df" /><Relationship Type="http://schemas.openxmlformats.org/officeDocument/2006/relationships/notesSlide" Target="/ppt/notesSlides/notesSlide8.xml" Id="R1dd763527a7d42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d2975a4fb4e32" /><Relationship Type="http://schemas.openxmlformats.org/officeDocument/2006/relationships/image" Target="/ppt/media/image.png" Id="R6399c4c08ef9421a" /><Relationship Type="http://schemas.openxmlformats.org/officeDocument/2006/relationships/notesSlide" Target="/ppt/notesSlides/notesSlide9.xml" Id="R945e93074d7f49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87b1fcdf24d40" /><Relationship Type="http://schemas.openxmlformats.org/officeDocument/2006/relationships/image" Target="/ppt/media/image.png" Id="Re5359f889c9c4dcf" /><Relationship Type="http://schemas.openxmlformats.org/officeDocument/2006/relationships/notesSlide" Target="/ppt/notesSlides/notesSlide10.xml" Id="R7ffe2661c1994e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d9af8b7fc48ba" /><Relationship Type="http://schemas.openxmlformats.org/officeDocument/2006/relationships/image" Target="/ppt/media/image.png" Id="R4f38041d0b964bf5" /><Relationship Type="http://schemas.openxmlformats.org/officeDocument/2006/relationships/notesSlide" Target="/ppt/notesSlides/notesSlide11.xml" Id="R25094869217840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b4b0414cc4fbb" /><Relationship Type="http://schemas.openxmlformats.org/officeDocument/2006/relationships/image" Target="/ppt/media/image.png" Id="Rcc0c3301a5864083" /><Relationship Type="http://schemas.openxmlformats.org/officeDocument/2006/relationships/notesSlide" Target="/ppt/notesSlides/notesSlide12.xml" Id="R5f4458a342d14d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ce7ab31404597" /><Relationship Type="http://schemas.openxmlformats.org/officeDocument/2006/relationships/image" Target="/ppt/media/image.png" Id="R8e9ae956df3c4d7f" /><Relationship Type="http://schemas.openxmlformats.org/officeDocument/2006/relationships/image" Target="/ppt/media/image3.png" Id="Rcc45a1d816584367" /><Relationship Type="http://schemas.openxmlformats.org/officeDocument/2006/relationships/notesSlide" Target="/ppt/notesSlides/notesSlide13.xml" Id="Rb87a10f1a65a4d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9c95df82844d2" /><Relationship Type="http://schemas.openxmlformats.org/officeDocument/2006/relationships/image" Target="/ppt/media/image.png" Id="Redc8a62e7af24ca7" /><Relationship Type="http://schemas.openxmlformats.org/officeDocument/2006/relationships/image" Target="/ppt/media/image4.png" Id="Rd1150694e0f245be" /><Relationship Type="http://schemas.openxmlformats.org/officeDocument/2006/relationships/notesSlide" Target="/ppt/notesSlides/notesSlide14.xml" Id="R00efef0faa0441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c060e8f3f435d" /><Relationship Type="http://schemas.openxmlformats.org/officeDocument/2006/relationships/image" Target="/ppt/media/image.png" Id="Rd53cd3c34bea48b6" /><Relationship Type="http://schemas.openxmlformats.org/officeDocument/2006/relationships/notesSlide" Target="/ppt/notesSlides/notesSlide15.xml" Id="R269776dccdaa4d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7a7cc8c4840bb" /><Relationship Type="http://schemas.openxmlformats.org/officeDocument/2006/relationships/image" Target="/ppt/media/image.png" Id="R355c8dd9c8fc4bb3" /><Relationship Type="http://schemas.openxmlformats.org/officeDocument/2006/relationships/notesSlide" Target="/ppt/notesSlides/notesSlide16.xml" Id="R3579f9c44e774d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01ce676564664" /><Relationship Type="http://schemas.openxmlformats.org/officeDocument/2006/relationships/image" Target="/ppt/media/image.png" Id="Rbdc1c4cfab554e4f" /><Relationship Type="http://schemas.openxmlformats.org/officeDocument/2006/relationships/notesSlide" Target="/ppt/notesSlides/notesSlide17.xml" Id="R8a61159f4ae54a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38308a5294c07" /><Relationship Type="http://schemas.openxmlformats.org/officeDocument/2006/relationships/image" Target="/ppt/media/image.png" Id="R9e3debe98de24742" /><Relationship Type="http://schemas.openxmlformats.org/officeDocument/2006/relationships/notesSlide" Target="/ppt/notesSlides/notesSlide18.xml" Id="Rfa899d75f9ea4b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6a508e97c4a70" /><Relationship Type="http://schemas.openxmlformats.org/officeDocument/2006/relationships/image" Target="/ppt/media/image.png" Id="Re5dad531f8b54b45" /><Relationship Type="http://schemas.openxmlformats.org/officeDocument/2006/relationships/image" Target="/ppt/media/image5.png" Id="R1d766bb645aa40c1" /><Relationship Type="http://schemas.openxmlformats.org/officeDocument/2006/relationships/notesSlide" Target="/ppt/notesSlides/notesSlide19.xml" Id="R4d4c56b8233448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f5e03145a4245" /><Relationship Type="http://schemas.openxmlformats.org/officeDocument/2006/relationships/image" Target="/ppt/media/image.png" Id="Rb80d56a6041647f3" /><Relationship Type="http://schemas.openxmlformats.org/officeDocument/2006/relationships/image" Target="/ppt/media/image6.png" Id="R1237d9c17f91478a" /><Relationship Type="http://schemas.openxmlformats.org/officeDocument/2006/relationships/notesSlide" Target="/ppt/notesSlides/notesSlide20.xml" Id="Ra8bc32e0a84146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a6d26b42e4259" /><Relationship Type="http://schemas.openxmlformats.org/officeDocument/2006/relationships/image" Target="/ppt/media/image.png" Id="Rd9266a7593354871" /><Relationship Type="http://schemas.openxmlformats.org/officeDocument/2006/relationships/notesSlide" Target="/ppt/notesSlides/notesSlide21.xml" Id="Rf36bccf831cb448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3f95f27454786" /><Relationship Type="http://schemas.openxmlformats.org/officeDocument/2006/relationships/image" Target="/ppt/media/image.png" Id="R73dac961cf584764" /><Relationship Type="http://schemas.openxmlformats.org/officeDocument/2006/relationships/image" Target="/ppt/media/image7.png" Id="Rdb3f52eda2934d25" /><Relationship Type="http://schemas.openxmlformats.org/officeDocument/2006/relationships/notesSlide" Target="/ppt/notesSlides/notesSlide22.xml" Id="Rab22f6500d41419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3404e386e4afa" /><Relationship Type="http://schemas.openxmlformats.org/officeDocument/2006/relationships/image" Target="/ppt/media/image.png" Id="Rdf023708bfa647b2" /><Relationship Type="http://schemas.openxmlformats.org/officeDocument/2006/relationships/image" Target="/ppt/media/image8.png" Id="R56b71038b2314a79" /><Relationship Type="http://schemas.openxmlformats.org/officeDocument/2006/relationships/notesSlide" Target="/ppt/notesSlides/notesSlide23.xml" Id="Reb8d3aeb6eb047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5c8692e434f17" /><Relationship Type="http://schemas.openxmlformats.org/officeDocument/2006/relationships/image" Target="/ppt/media/image.png" Id="R4742390edb714f74" /><Relationship Type="http://schemas.openxmlformats.org/officeDocument/2006/relationships/image" Target="/ppt/media/image.jpeg" Id="R100f25870f774d0f" /><Relationship Type="http://schemas.openxmlformats.org/officeDocument/2006/relationships/notesSlide" Target="/ppt/notesSlides/notesSlide24.xml" Id="R2102c85fa69544b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752de26074c58" /><Relationship Type="http://schemas.openxmlformats.org/officeDocument/2006/relationships/image" Target="/ppt/media/image.png" Id="R0896198758a24dd9" /><Relationship Type="http://schemas.openxmlformats.org/officeDocument/2006/relationships/image" Target="/ppt/media/image2.jpeg" Id="R84fcd4453faa4659" /><Relationship Type="http://schemas.openxmlformats.org/officeDocument/2006/relationships/notesSlide" Target="/ppt/notesSlides/notesSlide25.xml" Id="R690f29371cde404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3d2d6f44b4b7e" /><Relationship Type="http://schemas.openxmlformats.org/officeDocument/2006/relationships/image" Target="/ppt/media/image.png" Id="Ra4de69a59921416e" /><Relationship Type="http://schemas.openxmlformats.org/officeDocument/2006/relationships/notesSlide" Target="/ppt/notesSlides/notesSlide26.xml" Id="Rdfa8bc2f37434d6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b284624554f24" /><Relationship Type="http://schemas.openxmlformats.org/officeDocument/2006/relationships/image" Target="/ppt/media/image.png" Id="R585c317f6c804899" /><Relationship Type="http://schemas.openxmlformats.org/officeDocument/2006/relationships/notesSlide" Target="/ppt/notesSlides/notesSlide27.xml" Id="Ra8db8130a62a455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186a64b6d40ed" /><Relationship Type="http://schemas.openxmlformats.org/officeDocument/2006/relationships/image" Target="/ppt/media/image.png" Id="Rd0a3e1c16a214fa1" /><Relationship Type="http://schemas.openxmlformats.org/officeDocument/2006/relationships/notesSlide" Target="/ppt/notesSlides/notesSlide28.xml" Id="R2b208ca4346d4b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f80c832914b38" /><Relationship Type="http://schemas.openxmlformats.org/officeDocument/2006/relationships/image" Target="/ppt/media/image.png" Id="Rb3db7f2fb3054e27" /><Relationship Type="http://schemas.openxmlformats.org/officeDocument/2006/relationships/notesSlide" Target="/ppt/notesSlides/notesSlide29.xml" Id="R20195490f2774a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c4e546b1042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68B4146E-85E1-49A9-A0A7-D31DE7F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8932127D-46EE-4AB3-B0A0-F83A3792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CHECK POINT 01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EC8235D4-3382-4F7C-8580-811FBADE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57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Ferramentas de segurança</a:t>
            </a:r>
          </a:p>
          <a:p xmlns:a="http://schemas.openxmlformats.org/drawingml/2006/main">
            <a:pPr>
              <a:buNone/>
              <a:defRPr sz="420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no pipeline DevSecOps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1DD37EC7-259E-423A-B242-54017D21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9DCC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DCC2"/>
                </a:solidFill>
                <a:latin typeface="Arial"/>
                <a:ea typeface="Arial"/>
                <a:cs typeface="Arial"/>
              </a:rPr>
              <a:t>njsscan  |  npm audit  |  Datree  |  StackHawk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9BB47E69-9B0C-4AD7-8D7B-D213C6B3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09204820-861A-4FA0-A13A-12C70F7B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GRUPO 3  •  CLOUD SECURITY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6F427D32-A68A-4511-8889-F75DF7AF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B9DCC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DCC2"/>
                </a:solidFill>
                <a:latin typeface="Arial"/>
                <a:ea typeface="Arial"/>
                <a:cs typeface="Arial"/>
              </a:rPr>
              <a:t>Professor Fabio Pires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EB1AA96A-8B09-4231-9F3A-E35FB7DF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Leonardo Garroti  •  Aquiles Fonseca  •  Leandro de Souza</a:t>
            </a:r>
          </a:p>
        </p:txBody>
      </p:sp>
    </p:spTree>
    <p:extLst>
      <p:ext uri="{BB962C8B-B14F-4D97-AF65-F5344CB8AC3E}">
        <p14:creationId xmlns:p14="http://schemas.microsoft.com/office/powerpoint/2010/main" val="1356494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62ca2b97f4b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D1E60ACC-53C8-46DD-B766-4596AB11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667BA72A-067B-4A6E-A701-6B9CC537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GRUPO 3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175C3F45-A196-44DF-B8C5-406A0F20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Equipe e objetivo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0C197AC5-D37E-4AD7-A529-46EC5C1D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0DB1C403-7A75-45CC-B0F2-74399B57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Integrantes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C89BAB31-C4FA-4CF5-A72C-0EA4C6F7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Leonardo Garroti</a:t>
            </a:r>
          </a:p>
          <a:p xmlns:a="http://schemas.openxmlformats.org/drawingml/2006/main">
            <a:endParaRPr sz="2250" b="1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22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Aquiles Fonseca</a:t>
            </a:r>
          </a:p>
          <a:p xmlns:a="http://schemas.openxmlformats.org/drawingml/2006/main">
            <a:endParaRPr sz="2250" b="1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22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Leandro de Souza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C8DA0476-5C9F-4F27-B30D-F6BB59BF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Objetivo do trabalho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59D38ABC-B1D0-41BC-9FD1-64C99210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Entender o que cada ferramenta verifica e mostrar como os alertas levam a correções no código e nas dependências.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D93428F4-532E-4363-831D-049C1C9B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Repositório público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439C5C0C-F82B-4B89-904C-74B7B447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863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075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56A"/>
                </a:solidFill>
                <a:latin typeface="Arial"/>
                <a:ea typeface="Arial"/>
                <a:cs typeface="Arial"/>
              </a:rPr>
              <a:t>github.com/garrotii/</a:t>
            </a:r>
          </a:p>
          <a:p xmlns:a="http://schemas.openxmlformats.org/drawingml/2006/main">
            <a:pPr>
              <a:buNone/>
              <a:defRPr sz="1650" b="0">
                <a:solidFill>
                  <a:srgbClr val="6075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56A"/>
                </a:solidFill>
                <a:latin typeface="Arial"/>
                <a:ea typeface="Arial"/>
                <a:cs typeface="Arial"/>
              </a:rPr>
              <a:t>cp01-cloud-security-grupo-3</a:t>
            </a:r>
          </a:p>
        </p:txBody>
      </p:sp>
    </p:spTree>
    <p:extLst>
      <p:ext uri="{BB962C8B-B14F-4D97-AF65-F5344CB8AC3E}">
        <p14:creationId xmlns:p14="http://schemas.microsoft.com/office/powerpoint/2010/main" val="443670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4111e66c94c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6C2387A1-7786-42C2-814E-DFBD14E3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5BB330AC-1488-4497-9131-84DB5471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30 MINUTOS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942B93B8-2933-4361-9E0E-9DC89C68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Agenda da apresentação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91882390-7C88-45F2-AAA6-E6649FBE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Tabela 9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8820150"/>
              </a:tblGrid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Tempo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Slides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3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1 a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10 min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6 a 18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12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19 a 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3 min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2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355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91d8faf1642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FAC1D236-C9BD-4F10-9C55-B7DFE3A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E3524659-BECA-4942-B586-9A2DA3A6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PIPELINE DEVSECOPS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07798FF5-6256-405A-A5BF-F307D54E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Quatro frentes de segurança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529CF730-4381-4229-A909-1A40FBDB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6" name="Tabela 11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81250"/>
                <a:gridCol w="3429000"/>
                <a:gridCol w="3200400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Categoria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Ferramenta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verifica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Quando usar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SAST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njsscan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Código próprio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Desenvolvimento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SCA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npm audit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Dependências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Instalação e build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IaC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Datree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Arquivos Kubernetes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Antes do deploy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DAST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StackHawk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Aplicação ativa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Ambiente de teste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</a:tr>
            </a:tbl>
          </a:graphicData>
        </a:graphic>
      </p:graphicFrame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37D5A906-086D-4AD1-ADF4-C6010980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31C8E8A6-A7FF-42FD-83C6-CB749A13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Cada ferramenta verifica uma parte diferente do projeto.</a:t>
            </a:r>
          </a:p>
        </p:txBody>
      </p:sp>
    </p:spTree>
    <p:extLst>
      <p:ext uri="{BB962C8B-B14F-4D97-AF65-F5344CB8AC3E}">
        <p14:creationId xmlns:p14="http://schemas.microsoft.com/office/powerpoint/2010/main" val="1677446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c5a7c3c164a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C5A14052-8C8C-4CFD-AA9A-8AA27B74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46522ECF-5B02-432F-8C18-DCC47CD1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SHIFT-LEFT E SBOM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B0ACD673-8936-4511-8397-DE1F141A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Testar cedo e conhecer os componentes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D962B3F3-1199-4FDF-8637-371D9C71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937C578C-A55C-4D1D-8396-85D88279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Shift-left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CDF0B47D-AB5B-42B6-9321-86188694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Trazer os testes de segurança para o começo do desenvolvimento.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1E72D277-0B12-4FF7-BE67-24551D2B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277D7742-E68C-4788-AD1E-18DB55DE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Corrigir antes de entregar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98A1C0E7-EAEC-40BE-899B-86761105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D288A6EC-7874-4E28-9FD7-128BF6B0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Receber retorno no pipeline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B6FE3AC3-E940-4FA4-AE34-F29DF920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SBOM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81F751F6-D643-46D1-BA00-7CA345CD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Lista dos componentes e das versões usados pela aplicação.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7171FC7A-3F04-413E-9FCC-EA4302FA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4638C673-0802-4EA4-B025-C6E07581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Ajuda a localizar uma biblioteca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DE3A2B3E-8DD6-4427-B7A8-DB123A75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AAD99FAA-78B7-47DD-98A2-5F9368E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Neste lab: formato CycloneDX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8C375E80-072C-4F8A-A194-FE84A8AD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47390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885c78fdf4f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25" name="Retângulo 24">
            <a:extLst xmlns:a="http://schemas.openxmlformats.org/drawingml/2006/main">
              <a:ext uri="{FF2B5EF4-FFF2-40B4-BE49-F238E27FC236}">
                <a16:creationId xmlns:a16="http://schemas.microsoft.com/office/drawing/2014/main" id="{06D1A346-5CA7-49BE-866B-8F397CB2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BA2B01A2-3A85-4E24-9D21-1306B34B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MÉTODO E ESCOPO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33A60BDF-1180-4BC8-B803-530CFA1B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Como organizamos o laboratório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BD5A3CA4-61C9-4433-BBEB-5093BCF7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7DFB3653-89B5-4AA3-B219-449F4F5F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Aplicação própria em Node.js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D7C1384B-E301-4D83-B5DB-9027842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96782CB-C201-424E-BA95-C15222CE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Falhas escritas de propósito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03601DE7-DCEF-4A39-9F9B-FA0F1834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53E69B43-4935-4156-87BB-DB173874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Versão insegura e versão corrigida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2BBD1B72-C770-4088-8537-A3F86E52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A9BDAC01-ACFF-4D05-A696-80FB26A9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Mesmo ambiente Docker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59AFE73D-F381-4A56-8EBD-C0980EA0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E73F5974-90F3-413A-A7B7-E9F0353C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Relatórios guardados no projeto</a:t>
            </a:r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9C4B3B43-3B4B-489B-A7C3-B0C7C280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O que foi executado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A39ED13B-594F-41C6-A1D7-B763E0B7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FC0CF0CD-C05E-4AA1-9EBE-4D94AB9D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njsscan: SAST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5931A084-08AA-41A9-8267-6CE1B7F2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18CEA892-6CF3-483D-9A27-0C06184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56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npm audit: SCA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7F2F9F20-4141-4CC4-B084-FBDE87E5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7E593366-256D-4F03-A7E5-46252ECA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Datree e StackHawk: pesquisa</a:t>
            </a:r>
          </a:p>
        </p:txBody>
      </p:sp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2F61CC64-9EBA-41C6-963F-00C8D1EA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Retângulo 21">
            <a:extLst xmlns:a="http://schemas.openxmlformats.org/drawingml/2006/main">
              <a:ext uri="{FF2B5EF4-FFF2-40B4-BE49-F238E27FC236}">
                <a16:creationId xmlns:a16="http://schemas.microsoft.com/office/drawing/2014/main" id="{33041463-9FFA-456A-9309-EAA926C5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Alvo local, sem testar sites de terceiros</a:t>
            </a:r>
          </a:p>
        </p:txBody>
      </p:sp>
      <p:sp>
        <p:nvSpPr>
          <p:cNvPr id="23" name="Retângulo 22">
            <a:extLst xmlns:a="http://schemas.openxmlformats.org/drawingml/2006/main">
              <a:ext uri="{FF2B5EF4-FFF2-40B4-BE49-F238E27FC236}">
                <a16:creationId xmlns:a16="http://schemas.microsoft.com/office/drawing/2014/main" id="{3BA48C9B-E213-44D7-AAFE-E9486BC1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24" name="Retângulo 23">
            <a:extLst xmlns:a="http://schemas.openxmlformats.org/drawingml/2006/main">
              <a:ext uri="{FF2B5EF4-FFF2-40B4-BE49-F238E27FC236}">
                <a16:creationId xmlns:a16="http://schemas.microsoft.com/office/drawing/2014/main" id="{0474A4BB-814A-49CB-A224-3F608F53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 comparação usa resultados reais das duas versões do laboratório.</a:t>
            </a:r>
          </a:p>
        </p:txBody>
      </p:sp>
    </p:spTree>
    <p:extLst>
      <p:ext uri="{BB962C8B-B14F-4D97-AF65-F5344CB8AC3E}">
        <p14:creationId xmlns:p14="http://schemas.microsoft.com/office/powerpoint/2010/main" val="1248447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70cb30ad440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499ECE54-A619-4F3D-B4B1-D198E33A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B56D295D-7FB9-40BB-AFAA-1B95DBCD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SAST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AB09DA67-BDF8-4B73-8952-476C77FD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njsscan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6CD516F7-96A7-42C8-89B4-436B5DDF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03BD2043-9FB2-4693-B4CA-88F993A0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Como analisa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EE815715-803E-4CE8-9196-8079E9D5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D4E0625A-F098-40F2-B61B-A31E0193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Procura padrões perigosos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2E5A899B-F271-403A-8615-D92A027C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B4191ACE-C624-43CA-AA27-13BCAA92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Usa libsast e Semgrep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82E610DD-7459-4DEC-B5FB-800E458C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4B1ADAFC-49FB-4C12-B932-5727C639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Não precisa iniciar a aplicação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86E8D742-9D0C-4A9E-8EFA-22DA8326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Uso no laboratório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665A813C-FFC1-40CA-AADA-56CA25DF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157EC035-4276-4351-9A38-A30ACB1E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Versão fixada: 1.0.0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1AE4C7BE-A2C7-491E-8E03-71320A53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C4D6BDC9-971E-4E07-BB38-FE62A5FA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Saídas JSON, SARIF e HTML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B5A6325E-E0F5-4696-977B-9C91EDD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AC9D7336-231D-4ABF-99B5-968D8555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JSON lido pelo gate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3E5AE490-EFEB-4E61-8A70-CB4B6163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FB610F67-AC69-4D04-A048-7EA30336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Ponto forte: mostra a regra e o trecho do código. Limite: depende das regras.</a:t>
            </a:r>
          </a:p>
        </p:txBody>
      </p:sp>
    </p:spTree>
    <p:extLst>
      <p:ext uri="{BB962C8B-B14F-4D97-AF65-F5344CB8AC3E}">
        <p14:creationId xmlns:p14="http://schemas.microsoft.com/office/powerpoint/2010/main" val="492252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52ce94b4743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4E977DB8-8F87-4190-8B6D-4DF038FE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51719C9E-B7FC-4852-B2C7-1B73FB3B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RESULTADO REAL DO NJSSCAN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20F46ECA-F842-4D4D-B822-E8FC4D4E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Três alertas no código inseguro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E1BD1E7C-219F-45D2-8E23-71CA7E8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7" name="Imagem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bdfda676545df"/>
          <a:stretch xmlns:a="http://schemas.openxmlformats.org/drawingml/2006/main"/>
        </p:blipFill>
        <p:spPr>
          <a:xfrm xmlns:a="http://schemas.openxmlformats.org/drawingml/2006/main">
            <a:off x="1730829" y="1619250"/>
            <a:ext cx="5148943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0A558C9A-AC61-45CD-81A4-AB943959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625" b="1">
                <a:solidFill>
                  <a:srgbClr val="A9CF3A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A9CF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DC37B438-1830-4DE0-BA45-D47946E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075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56A"/>
                </a:solidFill>
                <a:latin typeface="Arial"/>
                <a:ea typeface="Arial"/>
                <a:cs typeface="Arial"/>
              </a:rPr>
              <a:t>ALERTAS CONFIRMADOS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531964EF-988B-4E87-9831-4CEE23E8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76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CWE-79 • XSS</a:t>
            </a:r>
          </a:p>
          <a:p xmlns:a="http://schemas.openxmlformats.org/drawingml/2006/main">
            <a:endParaRPr sz="1875" b="1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87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CWE-78 • Comando</a:t>
            </a:r>
          </a:p>
          <a:p xmlns:a="http://schemas.openxmlformats.org/drawingml/2006/main">
            <a:endParaRPr sz="1875" b="1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87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CWE-95 • eval</a:t>
            </a:r>
          </a:p>
        </p:txBody>
      </p:sp>
    </p:spTree>
    <p:extLst>
      <p:ext uri="{BB962C8B-B14F-4D97-AF65-F5344CB8AC3E}">
        <p14:creationId xmlns:p14="http://schemas.microsoft.com/office/powerpoint/2010/main" val="7588579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9c4c08ef942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4E5D5DA7-829F-4211-876C-DC0720C9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63BC7889-3CC7-4B6D-A43B-88A3C53C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VERDADEIROS POSITIVOS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C41106D4-BBF5-4628-80B7-3CE6FD6F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Análise dos três achados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BFA04D63-8275-445B-B178-92AA150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6" name="Tabela 11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1432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952500"/>
                <a:gridCol w="3667125"/>
                <a:gridCol w="367665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Achado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CWE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 que é real?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Correção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HTML com entrada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Entrada chega ao HTML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Responder texto simples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Comando do usuário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78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Entrada chega ao exec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Retirar o comando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Texto como código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Entrada chega ao 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Somar números validados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9487ABF0-5A07-4DB2-ADFC-7DAFDD28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ABEDAC4A-4124-49BA-85F7-FBB13BFE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Os três alertas foram conferidos no código: 0 falsos positivos nessa amostra.</a:t>
            </a:r>
          </a:p>
        </p:txBody>
      </p:sp>
    </p:spTree>
    <p:extLst>
      <p:ext uri="{BB962C8B-B14F-4D97-AF65-F5344CB8AC3E}">
        <p14:creationId xmlns:p14="http://schemas.microsoft.com/office/powerpoint/2010/main" val="15771494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59f889c9c4d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6BB76C80-6642-42FD-9AE5-03B1A877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10A8D155-A595-4173-AC7B-60E8D188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ANTES E DEPOIS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7081BB87-E1AC-40CE-845B-69AD5374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Correção do uso de eval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F3087A6B-AC46-41E6-836A-B6F57921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1839FC89-6460-4C29-99A0-DB28AC55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9C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9CF3A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F89D578A-0497-4209-A5D4-5BC707B6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4857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E8"/>
          </a:solidFill>
          <a:ln xmlns:a="http://schemas.openxmlformats.org/drawingml/2006/main" w="9525">
            <a:solidFill>
              <a:srgbClr val="D9EBDD"/>
            </a:solidFill>
          </a:ln>
        </p:spPr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FD1B3385-B974-438D-B97E-D366B552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4438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9CF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CF3A"/>
                </a:solidFill>
                <a:latin typeface="Consolas"/>
                <a:ea typeface="Consolas"/>
                <a:cs typeface="Consolas"/>
              </a:rPr>
              <a:t>const resultado =</a:t>
            </a:r>
          </a:p>
          <a:p xmlns:a="http://schemas.openxmlformats.org/drawingml/2006/main">
            <a:pPr>
              <a:buNone/>
              <a:defRPr sz="1650" b="0">
                <a:solidFill>
                  <a:srgbClr val="A9CF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CF3A"/>
                </a:solidFill>
                <a:latin typeface="Consolas"/>
                <a:ea typeface="Consolas"/>
                <a:cs typeface="Consolas"/>
              </a:rPr>
              <a:t>  eval(req.query.expr);</a:t>
            </a:r>
          </a:p>
          <a:p xmlns:a="http://schemas.openxmlformats.org/drawingml/2006/main">
            <a:endParaRPr sz="1650" b="0">
              <a:solidFill>
                <a:srgbClr val="A9CF3A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>
              <a:buNone/>
              <a:defRPr sz="1650" b="0">
                <a:solidFill>
                  <a:srgbClr val="A9CF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CF3A"/>
                </a:solidFill>
                <a:latin typeface="Consolas"/>
                <a:ea typeface="Consolas"/>
                <a:cs typeface="Consolas"/>
              </a:rPr>
              <a:t>res.json({ resultado });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AB40FF57-6561-4DCC-B498-70014817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9B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9B58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737A5B07-F908-47C3-BAC7-ECD3C87A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857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1"/>
          </a:solidFill>
          <a:ln xmlns:a="http://schemas.openxmlformats.org/drawingml/2006/main" w="9525">
            <a:solidFill>
              <a:srgbClr val="D9EBDD"/>
            </a:solidFill>
          </a:ln>
        </p:spPr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F02B74DF-D805-4BD3-AEB4-70C78A9A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57475"/>
            <a:ext cx="4438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const a = Number(req.query.a);</a:t>
            </a:r>
          </a:p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const b = Number(req.query.b);</a:t>
            </a:r>
          </a:p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// Validar os números antes</a:t>
            </a:r>
          </a:p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res.json({ resultado: a + b });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C0BE17D3-3744-4AC5-BBF9-E140689D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2748E4EC-C95C-4EFB-8358-04819724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O cálculo passa a aceitar números, sem executar um programa enviado pelo usuário.</a:t>
            </a:r>
          </a:p>
        </p:txBody>
      </p:sp>
    </p:spTree>
    <p:extLst>
      <p:ext uri="{BB962C8B-B14F-4D97-AF65-F5344CB8AC3E}">
        <p14:creationId xmlns:p14="http://schemas.microsoft.com/office/powerpoint/2010/main" val="6903405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8041d0b964b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9549D1A1-F4F4-4E6B-A8C9-5FC39A4B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37A7E1A9-519E-4099-B12B-1525C071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MUDANÇAS NO CÓDIGO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AB34B52D-E870-411C-8CB8-EF18DB56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Correções de XSS e comando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52464D43-A785-41BA-A749-BF8A8F2F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A1A8DBC3-BFDA-4B27-9787-B8F91433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XSS: responder texto simples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B332E8DD-C8F3-4538-A229-BE625BD5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48577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7"/>
          </a:solidFill>
          <a:ln xmlns:a="http://schemas.openxmlformats.org/drawingml/2006/main" w="9525">
            <a:solidFill>
              <a:srgbClr val="D9EBDD"/>
            </a:solidFill>
          </a:ln>
        </p:spPr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F882909B-D6C9-4947-BDF5-6DBA93A0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44386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// Depois da correção</a:t>
            </a:r>
          </a:p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res.type('text/plain')</a:t>
            </a:r>
          </a:p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  .send('Olá, ' + nome);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405FCA7F-4874-4859-BACC-86F231F9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O navegador recebe texto e não interpreta a entrada como HTML.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6E8DF653-9090-4162-8B77-40491A0C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Comando: retirar a execução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989F4E71-863E-4765-841A-5A001119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8577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7"/>
          </a:solidFill>
          <a:ln xmlns:a="http://schemas.openxmlformats.org/drawingml/2006/main" w="9525">
            <a:solidFill>
              <a:srgbClr val="D9EBDD"/>
            </a:solidFill>
          </a:ln>
        </p:spPr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A476C269-C1EC-4BC0-9ED5-65EF1FD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57475"/>
            <a:ext cx="44386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// Depois da correção</a:t>
            </a:r>
          </a:p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res.json({</a:t>
            </a:r>
          </a:p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  mensagem: 'Laboratório do grupo 3'</a:t>
            </a:r>
          </a:p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B50ACFD9-0716-41D1-B7FB-AABA2E8D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 rota passa a responder uma mensagem fixa, sem chamar exec.</a:t>
            </a:r>
          </a:p>
        </p:txBody>
      </p:sp>
    </p:spTree>
    <p:extLst>
      <p:ext uri="{BB962C8B-B14F-4D97-AF65-F5344CB8AC3E}">
        <p14:creationId xmlns:p14="http://schemas.microsoft.com/office/powerpoint/2010/main" val="1153164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c3301a58640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A33124C6-C4FA-42B7-AE17-9560F1D3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18FE3A24-9393-47FC-8D2D-8B6A8839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SCA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82DB3A8B-E159-48C4-8038-D4FDACA7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npm audit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FB233457-8B32-406E-9539-47EAF1EB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FCD4F955-5C2D-4472-A8FA-AAD1E3C8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Como analisa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29AA4915-5956-4CD2-A1B7-EC4F623D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872689A-99DD-4492-8440-CD648925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Lê as dependências do lockfile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5F47AB15-F50A-4432-B2AE-3A9EEE48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357D68A5-E2EB-42E3-AC43-4F1987C5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Consulta avisos conhecidos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7453AF3C-2406-4E87-A57C-BBBC66F6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F958F07B-A1D2-4BDD-87E1-0DCA948A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Classifica a severidade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393CCDDE-006D-4D1B-8DFB-52CE42A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Uso no pipeline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568114D1-5FEE-48E5-A4F7-5B33B3E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0D0BD9CC-BE16-4E2D-AE04-DA94123D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Instalar as dependências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804F0DB3-57E0-4B85-A006-7C73F1DA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0C149CCC-1382-4F93-8543-C0C5531D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Executar npm audit --json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CFAA0B12-BABA-4113-9177-C6807E3A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146B5AAB-1904-4F24-8542-F032016B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Bloquear HIGH e CRITICAL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9C1DB7B9-7D8A-4A85-B9E5-614D95EC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2BA93827-436E-4663-8133-325F1D99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Ponto forte: já faz parte do npm. Limite: depende dos avisos publicados.</a:t>
            </a:r>
          </a:p>
        </p:txBody>
      </p:sp>
    </p:spTree>
    <p:extLst>
      <p:ext uri="{BB962C8B-B14F-4D97-AF65-F5344CB8AC3E}">
        <p14:creationId xmlns:p14="http://schemas.microsoft.com/office/powerpoint/2010/main" val="2099507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ae956df3c4d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F5FCF978-6F01-43ED-969F-6E8ABF95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E8FFF9D0-3F36-41AA-8B21-D2EB7C55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NPM AUDIT: VERSÃO INSEGURA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9ACCB87E-179A-4BB9-B1A7-BF639C2B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Dependência vulnerável encontrada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111B1710-51A0-4716-A4D7-1B7A4F57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9" name="Imagem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5a1d816584367"/>
          <a:stretch xmlns:a="http://schemas.openxmlformats.org/drawingml/2006/main"/>
        </p:blipFill>
        <p:spPr>
          <a:xfrm xmlns:a="http://schemas.openxmlformats.org/drawingml/2006/main">
            <a:off x="685800" y="1825894"/>
            <a:ext cx="7429500" cy="3777712"/>
          </a:xfrm>
          <a:prstGeom xmlns:a="http://schemas.openxmlformats.org/drawingml/2006/main" prst="rect">
            <a:avLst/>
          </a:prstGeom>
        </p:spPr>
      </p:pic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42C9EFC0-74EE-4FB8-BCF5-71C5F913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625" b="1">
                <a:solidFill>
                  <a:srgbClr val="A9CF3A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A9CF3A"/>
                </a:solidFill>
                <a:latin typeface="Arial"/>
                <a:ea typeface="Arial"/>
                <a:cs typeface="Arial"/>
              </a:rPr>
              <a:t>1 HIGH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F19D66B4-3AA9-445B-9035-7FD82279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051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075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56A"/>
                </a:solidFill>
                <a:latin typeface="Arial"/>
                <a:ea typeface="Arial"/>
                <a:cs typeface="Arial"/>
              </a:rPr>
              <a:t>PACOTE VULNERÁVEL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EED88832-8ABB-4741-9BE1-E75239C1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62375"/>
            <a:ext cx="285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lodash 4.17.15</a:t>
            </a:r>
          </a:p>
          <a:p xmlns:a="http://schemas.openxmlformats.org/drawingml/2006/main">
            <a:endParaRPr sz="1875" b="0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O pacote aparece em vários avisos. A contagem do resumo é por pacote.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289D2B01-613B-42E7-915C-311907D0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4200A9E1-8224-47E5-A46B-823BC055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 versão vulnerável foi confirmada; exploração pela rota exige outra análise.</a:t>
            </a:r>
          </a:p>
        </p:txBody>
      </p:sp>
    </p:spTree>
    <p:extLst>
      <p:ext uri="{BB962C8B-B14F-4D97-AF65-F5344CB8AC3E}">
        <p14:creationId xmlns:p14="http://schemas.microsoft.com/office/powerpoint/2010/main" val="9594594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8a62e7af24c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2F8B0C9F-8613-49C2-8DFB-1204E51E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4E55946C-5E98-4E27-9B19-85B51FD0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NPM AUDIT: VERSÃO CORRIGIDA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EACAE373-DFE2-4A5F-9658-41E4CD1C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Dependência atualizada e novo teste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8546F153-E575-4E07-A951-BEBC683E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EF03C407-6FF7-468F-B962-DDB40593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Atualização da biblioteca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9273C5D2-46ED-445D-8901-4B747B6F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A9CF3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A9CF3A"/>
                </a:solidFill>
                <a:latin typeface="Arial"/>
                <a:ea typeface="Arial"/>
                <a:cs typeface="Arial"/>
              </a:rPr>
              <a:t>4.17.15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659773A0-FAA8-4ED5-ACAD-DC8E4636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56A"/>
                </a:solidFill>
                <a:latin typeface="Arial"/>
                <a:ea typeface="Arial"/>
                <a:cs typeface="Arial"/>
              </a:rPr>
              <a:t>versão insegura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267748F6-CC72-415B-A98B-A6DF5AF6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59B5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9B58"/>
                </a:solidFill>
                <a:latin typeface="Arial"/>
                <a:ea typeface="Arial"/>
                <a:cs typeface="Arial"/>
              </a:rPr>
              <a:t>4.18.1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2C1C0CC5-CEDD-4346-9636-39DD7100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56A"/>
                </a:solidFill>
                <a:latin typeface="Arial"/>
                <a:ea typeface="Arial"/>
                <a:cs typeface="Arial"/>
              </a:rPr>
              <a:t>versão corrigida</a:t>
            </a:r>
          </a:p>
        </p:txBody>
      </p:sp>
      <p:pic>
        <p:nvPicPr>
          <p:cNvPr id="26" name="Imagem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50694e0f245be"/>
          <a:stretch xmlns:a="http://schemas.openxmlformats.org/drawingml/2006/main"/>
        </p:blipFill>
        <p:spPr>
          <a:xfrm xmlns:a="http://schemas.openxmlformats.org/drawingml/2006/main">
            <a:off x="5524500" y="2651241"/>
            <a:ext cx="5905500" cy="1365018"/>
          </a:xfrm>
          <a:prstGeom xmlns:a="http://schemas.openxmlformats.org/drawingml/2006/main" prst="rect">
            <a:avLst/>
          </a:prstGeom>
        </p:spPr>
      </p:pic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7723F1E1-423F-45C1-96FE-D6C11B8F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625" b="1">
                <a:solidFill>
                  <a:srgbClr val="159B58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159B5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53D3BA8A-899A-4E95-9329-27E77C9B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7212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075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56A"/>
                </a:solidFill>
                <a:latin typeface="Arial"/>
                <a:ea typeface="Arial"/>
                <a:cs typeface="Arial"/>
              </a:rPr>
              <a:t>VULNERABILIDADES CONHECIDAS</a:t>
            </a:r>
          </a:p>
        </p:txBody>
      </p:sp>
    </p:spTree>
    <p:extLst>
      <p:ext uri="{BB962C8B-B14F-4D97-AF65-F5344CB8AC3E}">
        <p14:creationId xmlns:p14="http://schemas.microsoft.com/office/powerpoint/2010/main" val="9824447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cd3c34bea48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783FF908-1D74-49E9-AC09-E772858C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F4C0F199-08D3-4F88-84E8-11E30270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SEGURANÇA DE IAC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DFA3075F-12F0-456C-83F6-535C0E2D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Datree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83AF1ECC-5EFF-4DE1-9335-98EB19B5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FA7B5597-41A8-4DE4-A3CD-0B2763AB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A8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CA82B"/>
                </a:solidFill>
                <a:latin typeface="Arial"/>
                <a:ea typeface="Arial"/>
                <a:cs typeface="Arial"/>
              </a:rPr>
              <a:t>O que fazia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6695AE9B-3E47-4457-9E02-55EA0135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93FD5868-52D9-4DD4-AF2F-1E2131EE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Analisava YAML de Kubernetes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2B8C61B8-14CD-4AB6-BCB8-9CC18094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A488A2D5-F928-4447-9D87-3C25716E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Aplicava regras de política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27D238D9-5A76-49AB-B338-BC3796F0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B9C9C7F6-B714-439C-94B0-B7CBCF57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Rodava antes do deploy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53300A1B-AF48-4D9F-A449-4B3D0218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A8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CA82B"/>
                </a:solidFill>
                <a:latin typeface="Arial"/>
                <a:ea typeface="Arial"/>
                <a:cs typeface="Arial"/>
              </a:rPr>
              <a:t>Situação do projeto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3F77FCCB-F88C-48B1-92D6-333ACB2F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E81A0B6D-1087-4822-88D4-C2E11BF9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Projeto arquivado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385AAD34-65E3-46CA-B430-DC9BF9D9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EA3957FD-3107-4763-9663-F86697FB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Sem manutenção contínua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BCAEBA14-F2D6-4091-A643-2332FD13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5EE1E70C-919E-4089-8FE8-3FCFE69D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Pesquisado, mas não executado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FB70BC73-0E49-413C-8EE5-D893E28C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6278E581-C1DA-4915-B031-0F9FBB85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Serve para estudo; um projeto novo deve avaliar ferramentas mantidas.</a:t>
            </a:r>
          </a:p>
        </p:txBody>
      </p:sp>
    </p:spTree>
    <p:extLst>
      <p:ext uri="{BB962C8B-B14F-4D97-AF65-F5344CB8AC3E}">
        <p14:creationId xmlns:p14="http://schemas.microsoft.com/office/powerpoint/2010/main" val="6923262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c8dd9c8fc4b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600A1959-FA6D-4040-9159-14F19BD7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1BED522A-D6E2-4550-9E51-8D27EA9E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EXEMPLO DE IAC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B0120FE3-C429-4B1A-B4FF-C06E10A9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Configuração Kubernetes mais segura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22F31B78-137A-4187-A4D7-B3A20080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28E1B6D4-8EAE-45BD-85B5-13A3A978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9C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9CF3A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0F2718EE-A312-4BD1-A7CA-746BE5BF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4857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E8"/>
          </a:solidFill>
          <a:ln xmlns:a="http://schemas.openxmlformats.org/drawingml/2006/main" w="9525">
            <a:solidFill>
              <a:srgbClr val="D9EBDD"/>
            </a:solidFill>
          </a:ln>
        </p:spPr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DB24473A-C1EF-4E67-9679-AB2CF0F6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44386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9CF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CF3A"/>
                </a:solidFill>
                <a:latin typeface="Consolas"/>
                <a:ea typeface="Consolas"/>
                <a:cs typeface="Consolas"/>
              </a:rPr>
              <a:t>securityContext:</a:t>
            </a:r>
          </a:p>
          <a:p xmlns:a="http://schemas.openxmlformats.org/drawingml/2006/main">
            <a:pPr>
              <a:buNone/>
              <a:defRPr sz="1650" b="0">
                <a:solidFill>
                  <a:srgbClr val="A9CF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CF3A"/>
                </a:solidFill>
                <a:latin typeface="Consolas"/>
                <a:ea typeface="Consolas"/>
                <a:cs typeface="Consolas"/>
              </a:rPr>
              <a:t>  privileged: true</a:t>
            </a:r>
          </a:p>
          <a:p xmlns:a="http://schemas.openxmlformats.org/drawingml/2006/main">
            <a:endParaRPr sz="1650" b="0">
              <a:solidFill>
                <a:srgbClr val="A9CF3A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>
              <a:buNone/>
              <a:defRPr sz="1650" b="0">
                <a:solidFill>
                  <a:srgbClr val="A9CF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CF3A"/>
                </a:solidFill>
                <a:latin typeface="Consolas"/>
                <a:ea typeface="Consolas"/>
                <a:cs typeface="Consolas"/>
              </a:rPr>
              <a:t># Sem limites de recursos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B0DB7900-EB11-4760-B72D-E83BFBA0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9B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9B58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E599D260-0FF1-4F1F-8606-14DB0CCA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857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1"/>
          </a:solidFill>
          <a:ln xmlns:a="http://schemas.openxmlformats.org/drawingml/2006/main" w="9525">
            <a:solidFill>
              <a:srgbClr val="D9EBDD"/>
            </a:solidFill>
          </a:ln>
        </p:spPr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11D16DEB-1C87-4BA5-B7BD-A2192792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57475"/>
            <a:ext cx="44386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securityContext:</a:t>
            </a:r>
          </a:p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  privileged: false</a:t>
            </a:r>
          </a:p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  readOnlyRootFilesystem: true</a:t>
            </a:r>
          </a:p>
          <a:p xmlns:a="http://schemas.openxmlformats.org/drawingml/2006/main">
            <a:endParaRPr sz="1650" b="0">
              <a:solidFill>
                <a:srgbClr val="1B4332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# Recursos com limites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220E26A5-1B92-4A86-9C65-083663C5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6A313A10-30E6-4AFA-B89A-AD0EAC61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O arquivo corrigido reduz privilégios e define limites. Não houve scan do Datree.</a:t>
            </a:r>
          </a:p>
        </p:txBody>
      </p:sp>
    </p:spTree>
    <p:extLst>
      <p:ext uri="{BB962C8B-B14F-4D97-AF65-F5344CB8AC3E}">
        <p14:creationId xmlns:p14="http://schemas.microsoft.com/office/powerpoint/2010/main" val="9918132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1c4cfab554e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C6C331B7-07E3-4543-9EA2-0683A94B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A182E80C-0036-4C15-98CD-BDFB9725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DAST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4507287F-21B1-47C0-8BD6-C4166CB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StackHawk e HawkScan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1FE32D12-4F59-4A5A-9C63-3A70E807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FCC8FB67-57B9-4333-9CD7-8C088C5F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9C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9CF3A"/>
                </a:solidFill>
                <a:latin typeface="Arial"/>
                <a:ea typeface="Arial"/>
                <a:cs typeface="Arial"/>
              </a:rPr>
              <a:t>Como funciona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D66152F3-49EA-45F4-84D4-E334A562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169084DA-6659-4ECD-8CC2-25BD5E4A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Testa a aplicação funcionando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0705F1FC-0DF9-4937-9FC5-A4DDC204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6DB8D571-B42E-46A5-A8A8-EFDC82D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Envia requisições para as rotas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7C6B6A76-084E-4B37-84EA-497DAB62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B14B453F-8632-44F2-88FF-EEB63BDD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Observa as respostas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CD556561-F610-4A51-87B7-A115BE5E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9C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9CF3A"/>
                </a:solidFill>
                <a:latin typeface="Arial"/>
                <a:ea typeface="Arial"/>
                <a:cs typeface="Arial"/>
              </a:rPr>
              <a:t>O que precisa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4A72CA12-5431-4942-86E1-0778D3A4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08B6DB80-E5EA-4332-A724-29148069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Endereço autorizado do alvo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C2986D59-9374-45D7-A404-E9969EF4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1F327A7C-BDE4-4555-8793-627D8F14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Ambiente de teste disponível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A34BBB87-461D-4A8F-ABD0-E808FAEA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FAAB276D-7547-482F-8F36-66356ED6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Login configurado, se necessário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E349396B-9291-4352-A788-75FBD275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A5404223-C671-469A-9629-6642FCF1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 plataforma possui partes comerciais. Foi pesquisada, mas não executada.</a:t>
            </a:r>
          </a:p>
        </p:txBody>
      </p:sp>
    </p:spTree>
    <p:extLst>
      <p:ext uri="{BB962C8B-B14F-4D97-AF65-F5344CB8AC3E}">
        <p14:creationId xmlns:p14="http://schemas.microsoft.com/office/powerpoint/2010/main" val="12571417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debe98de247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22" name="Retângulo 21">
            <a:extLst xmlns:a="http://schemas.openxmlformats.org/drawingml/2006/main">
              <a:ext uri="{FF2B5EF4-FFF2-40B4-BE49-F238E27FC236}">
                <a16:creationId xmlns:a16="http://schemas.microsoft.com/office/drawing/2014/main" id="{22078C27-0C4E-4C9A-A92E-06FA19D8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59CA9A92-6FFE-4730-A29F-81D08F36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TESTE DA APLICAÇÃO EM EXECUÇÃO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E93DA466-33E8-4093-85CD-396AEAEE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Etapas de um teste DAST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AEA39417-0942-438C-83A9-A9CCC754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FC5986DD-F933-4B3C-B6F1-9AF2A417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9F666FC8-F72A-4B4A-AFE9-5769B605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Iniciar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009B1023-FC2D-4931-BEEA-CBC073A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Aplicação de teste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67F7B615-BD32-452E-A865-1863FCC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95500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409B56A3-E05B-46C8-8DAD-4F9E79A3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37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Configurar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1BBF3D11-BF57-4FC8-B9AB-EC120658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481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Endereço permitido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30E92B35-7A59-438B-8647-E3CFDD96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95500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EF9DEA1A-CF33-43C6-882B-1916AA16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37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Executar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605ADBC1-A168-4192-83EE-A78C757D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481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Scanner e rotas</a:t>
            </a:r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0847B924-F9CC-4934-807B-69B2354D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3DD0EB21-F379-4E6B-9A54-020AA23C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337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Revisar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BEB02403-05A4-4B35-B36F-42735414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Alertas e contexto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2D6EF4E6-4567-4409-91A2-2420A33E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59B5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9B5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429173BE-52AA-4A47-B50C-AF8E4C1A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Repetir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A829EF61-758A-484E-9531-830E35DE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481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Depois das correções</a:t>
            </a:r>
          </a:p>
        </p:txBody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BD709D7E-0584-4B09-ADE7-57ED8FB6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8C20924F-7112-4552-A28E-468FF3D2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Sem acesso às rotas protegidas, o scanner pode testar apenas a tela de login.</a:t>
            </a:r>
          </a:p>
        </p:txBody>
      </p:sp>
    </p:spTree>
    <p:extLst>
      <p:ext uri="{BB962C8B-B14F-4D97-AF65-F5344CB8AC3E}">
        <p14:creationId xmlns:p14="http://schemas.microsoft.com/office/powerpoint/2010/main" val="22115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ad531f8b54b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BD00308F-5095-447F-B46E-F60AF6AB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32712DA2-C848-48F7-BD4C-CA7B4698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AMBIENTE REAL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2C2D4CAF-F221-48D5-A9E5-5BEAE78F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Imagem preparada no Docker Desktop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6770586E-CDFB-4ECE-9DC8-CCC06217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16" name="Imagem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66bb645aa40c1"/>
          <a:stretch xmlns:a="http://schemas.openxmlformats.org/drawingml/2006/main"/>
        </p:blipFill>
        <p:spPr>
          <a:xfrm xmlns:a="http://schemas.openxmlformats.org/drawingml/2006/main">
            <a:off x="1021138" y="1714500"/>
            <a:ext cx="7235075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24C8E679-B563-4E0A-BA50-254F7346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050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Uma imagem para os dois testes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08A46DA9-4547-43E5-89A4-0C3C94F7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2476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Node.js</a:t>
            </a:r>
          </a:p>
          <a:p xmlns:a="http://schemas.openxmlformats.org/drawingml/2006/main">
            <a:endParaRPr sz="1875" b="0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Python</a:t>
            </a:r>
          </a:p>
          <a:p xmlns:a="http://schemas.openxmlformats.org/drawingml/2006/main">
            <a:endParaRPr sz="1875" b="0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njsscan e Semgrep</a:t>
            </a:r>
          </a:p>
          <a:p xmlns:a="http://schemas.openxmlformats.org/drawingml/2006/main">
            <a:endParaRPr sz="1875" b="0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</p:spTree>
    <p:extLst>
      <p:ext uri="{BB962C8B-B14F-4D97-AF65-F5344CB8AC3E}">
        <p14:creationId xmlns:p14="http://schemas.microsoft.com/office/powerpoint/2010/main" val="12707983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d56a6041647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6520B5A4-EFD0-4688-945A-7EFFE4CE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4E32516E-FB0E-4C52-BC1E-47BEC5E6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DOCKER E WSL 2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EA4F6555-92F5-40E4-B026-27F8F282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Versões e imagem do laboratório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B876FFED-2609-4BB3-9293-82E7ED35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15" name="Imagem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7d9c17f91478a"/>
          <a:stretch xmlns:a="http://schemas.openxmlformats.org/drawingml/2006/main"/>
        </p:blipFill>
        <p:spPr>
          <a:xfrm xmlns:a="http://schemas.openxmlformats.org/drawingml/2006/main">
            <a:off x="685800" y="1936339"/>
            <a:ext cx="7620000" cy="3652073"/>
          </a:xfrm>
          <a:prstGeom xmlns:a="http://schemas.openxmlformats.org/drawingml/2006/main" prst="rect">
            <a:avLst/>
          </a:prstGeom>
        </p:spPr>
      </p:pic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DB7A7529-B309-458B-B422-E370B937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762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Docker Desktop</a:t>
            </a:r>
          </a:p>
          <a:p xmlns:a="http://schemas.openxmlformats.org/drawingml/2006/main">
            <a:endParaRPr sz="2025" b="1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Compose</a:t>
            </a:r>
          </a:p>
          <a:p xmlns:a="http://schemas.openxmlformats.org/drawingml/2006/main">
            <a:endParaRPr sz="2025" b="1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WSL 2 / Ubuntu</a:t>
            </a:r>
          </a:p>
          <a:p xmlns:a="http://schemas.openxmlformats.org/drawingml/2006/main">
            <a:endParaRPr sz="2025" b="1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cp01-grupo3:1.0</a:t>
            </a:r>
          </a:p>
        </p:txBody>
      </p:sp>
    </p:spTree>
    <p:extLst>
      <p:ext uri="{BB962C8B-B14F-4D97-AF65-F5344CB8AC3E}">
        <p14:creationId xmlns:p14="http://schemas.microsoft.com/office/powerpoint/2010/main" val="10704683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66a75933548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209A3DA2-4EB5-4773-BD28-D8F2553C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3ABB278B-B23C-4CCC-B73D-5A4E766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POLÍTICA DO GRUPO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90A6E8BF-87BB-400F-A24E-8577F9E6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Quando o gate bloqueia a entrega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25B44D1C-EAAD-496E-A67B-AE2D878F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16" name="Tabela 11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5238750"/>
                <a:gridCol w="1819275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Código de saída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SAST ERROR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Tratar como HIGH e 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SCA HIGH ou CRITICAL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Sem alertas nesses níveis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Aprovar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Erro ou relatório inválido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Interromper a análise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</a:tr>
            </a:tbl>
          </a:graphicData>
        </a:graphic>
      </p:graphicFrame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F29D2F2E-23EC-4485-A75B-46CDDCAA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3887F7DE-2624-4C5E-A744-291B2BC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 política está no script: o pipeline usa o código de saída para decidir.</a:t>
            </a:r>
          </a:p>
        </p:txBody>
      </p:sp>
    </p:spTree>
    <p:extLst>
      <p:ext uri="{BB962C8B-B14F-4D97-AF65-F5344CB8AC3E}">
        <p14:creationId xmlns:p14="http://schemas.microsoft.com/office/powerpoint/2010/main" val="12418177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ac961cf5847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2BE29DB8-3343-4B42-B93E-F67D8D87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DB2D302E-A2B1-4221-AE18-7D4D2906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EXECUÇÃO REAL NO DOCKER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E6E223FC-01A7-4B78-9923-934ADE86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Versão insegura: gate bloqueado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3C23A77D-1AD5-4D74-B0D7-3921C83F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19" name="Imagem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f52eda2934d25"/>
          <a:stretch xmlns:a="http://schemas.openxmlformats.org/drawingml/2006/main"/>
        </p:blipFill>
        <p:spPr>
          <a:xfrm xmlns:a="http://schemas.openxmlformats.org/drawingml/2006/main">
            <a:off x="1078230" y="1666875"/>
            <a:ext cx="664464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8784E108-40B5-46FD-B6F9-05AF1EDF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625" b="1">
                <a:solidFill>
                  <a:srgbClr val="A9CF3A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A9CF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BAF6DC6C-1131-4C09-A8CB-544873E1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075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56A"/>
                </a:solidFill>
                <a:latin typeface="Arial"/>
                <a:ea typeface="Arial"/>
                <a:cs typeface="Arial"/>
              </a:rPr>
              <a:t>ALERTAS SAST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26C0C41B-92FD-4A4B-8CC8-B87E903A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625" b="1">
                <a:solidFill>
                  <a:srgbClr val="A9CF3A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A9CF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65793EC4-B37A-4395-A05E-EFB8CBC1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67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075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56A"/>
                </a:solidFill>
                <a:latin typeface="Arial"/>
                <a:ea typeface="Arial"/>
                <a:cs typeface="Arial"/>
              </a:rPr>
              <a:t>PACOTE HIGH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A7663C29-7CE8-4C61-84AC-8D8A3846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A9C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9CF3A"/>
                </a:solidFill>
                <a:latin typeface="Arial"/>
                <a:ea typeface="Arial"/>
                <a:cs typeface="Arial"/>
              </a:rPr>
              <a:t>Código de saída: 1</a:t>
            </a:r>
          </a:p>
        </p:txBody>
      </p:sp>
    </p:spTree>
    <p:extLst>
      <p:ext uri="{BB962C8B-B14F-4D97-AF65-F5344CB8AC3E}">
        <p14:creationId xmlns:p14="http://schemas.microsoft.com/office/powerpoint/2010/main" val="6902568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23708bfa647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1D642233-DE94-4EA1-9398-62080B0B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D4E9226D-6D2C-4F6E-9F4E-3170372C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EXECUÇÃO REAL NO DOCKER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8A0F5721-DA2F-4787-AD9D-FDECEFE0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Versão corrigida: gate aprovado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A7106D2E-FE21-4492-977B-EFF44931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19" name="Imagem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71038b2314a79"/>
          <a:stretch xmlns:a="http://schemas.openxmlformats.org/drawingml/2006/main"/>
        </p:blipFill>
        <p:spPr>
          <a:xfrm xmlns:a="http://schemas.openxmlformats.org/drawingml/2006/main">
            <a:off x="871728" y="1666875"/>
            <a:ext cx="7057644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21756E81-9495-4A68-A471-CA0EC6FC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625" b="1">
                <a:solidFill>
                  <a:srgbClr val="159B58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159B5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92062B88-10A5-4FED-BD3E-84BC8770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075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56A"/>
                </a:solidFill>
                <a:latin typeface="Arial"/>
                <a:ea typeface="Arial"/>
                <a:cs typeface="Arial"/>
              </a:rPr>
              <a:t>ALERTAS SAST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72B8C7D0-322F-408B-9F96-A45CD985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625" b="1">
                <a:solidFill>
                  <a:srgbClr val="159B58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159B5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A7A5477B-41D6-469A-A645-95BD9DAD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672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075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56A"/>
                </a:solidFill>
                <a:latin typeface="Arial"/>
                <a:ea typeface="Arial"/>
                <a:cs typeface="Arial"/>
              </a:rPr>
              <a:t>PACOTES VULNERÁVEIS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EA82FB20-9016-455A-AC34-82852375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9B5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9B58"/>
                </a:solidFill>
                <a:latin typeface="Arial"/>
                <a:ea typeface="Arial"/>
                <a:cs typeface="Arial"/>
              </a:rPr>
              <a:t>Código de saída: 0</a:t>
            </a:r>
          </a:p>
        </p:txBody>
      </p:sp>
    </p:spTree>
    <p:extLst>
      <p:ext uri="{BB962C8B-B14F-4D97-AF65-F5344CB8AC3E}">
        <p14:creationId xmlns:p14="http://schemas.microsoft.com/office/powerpoint/2010/main" val="7308460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2390edb714f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E014A627-E2CC-4E62-9A79-177B56DE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E51C713A-D66A-4FE7-926D-64AEE70F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BUILD VERMELHO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3C1C3A89-8356-4567-BD38-71F14C17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GitHub Actions: bloqueio confirmado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65423BF6-ED8E-40B9-BED6-044BF78C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16" name="Imagem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f25870f774d0f"/>
          <a:stretch xmlns:a="http://schemas.openxmlformats.org/drawingml/2006/main"/>
        </p:blipFill>
        <p:spPr>
          <a:xfrm xmlns:a="http://schemas.openxmlformats.org/drawingml/2006/main">
            <a:off x="1029376" y="1714500"/>
            <a:ext cx="7361474" cy="4143375"/>
          </a:xfrm>
          <a:prstGeom xmlns:a="http://schemas.openxmlformats.org/drawingml/2006/main" prst="rect">
            <a:avLst/>
          </a:prstGeom>
        </p:spPr>
      </p:pic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04DD22B9-4B47-4944-B2CF-20FE53AC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90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9C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9CF3A"/>
                </a:solidFill>
                <a:latin typeface="Arial"/>
                <a:ea typeface="Arial"/>
                <a:cs typeface="Arial"/>
              </a:rPr>
              <a:t>Falha esperada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83BDAAD4-D567-4CEA-A269-FA63F3A0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238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 versão insegura foi bloqueada.</a:t>
            </a:r>
          </a:p>
          <a:p xmlns:a="http://schemas.openxmlformats.org/drawingml/2006/main">
            <a:endParaRPr sz="1875" b="0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Os relatórios ficaram anexados à execução.</a:t>
            </a:r>
          </a:p>
        </p:txBody>
      </p:sp>
    </p:spTree>
    <p:extLst>
      <p:ext uri="{BB962C8B-B14F-4D97-AF65-F5344CB8AC3E}">
        <p14:creationId xmlns:p14="http://schemas.microsoft.com/office/powerpoint/2010/main" val="20970032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6198758a24d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6030B838-27B5-4B7A-B1EA-50ACDED2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93375EE9-3E6C-4F2C-B369-8A958E0F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BUILD VERDE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84A28252-210F-4D05-936C-9180B473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GitHub Actions: correção aprovada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EBC157FD-5D58-4993-97A9-09F53A6D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16" name="Imagem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cd4453faa4659"/>
          <a:stretch xmlns:a="http://schemas.openxmlformats.org/drawingml/2006/main"/>
        </p:blipFill>
        <p:spPr>
          <a:xfrm xmlns:a="http://schemas.openxmlformats.org/drawingml/2006/main">
            <a:off x="1029376" y="1714500"/>
            <a:ext cx="7361474" cy="4143375"/>
          </a:xfrm>
          <a:prstGeom xmlns:a="http://schemas.openxmlformats.org/drawingml/2006/main" prst="rect">
            <a:avLst/>
          </a:prstGeom>
        </p:spPr>
      </p:pic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48717C3F-FC52-4915-A7AF-0AB24509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90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9B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9B58"/>
                </a:solidFill>
                <a:latin typeface="Arial"/>
                <a:ea typeface="Arial"/>
                <a:cs typeface="Arial"/>
              </a:rPr>
              <a:t>Teste aprovado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7E7B6670-74BE-43A5-86D3-A0CC196E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238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 versão corrigida passou.</a:t>
            </a:r>
          </a:p>
          <a:p xmlns:a="http://schemas.openxmlformats.org/drawingml/2006/main">
            <a:endParaRPr sz="1875" b="0">
              <a:solidFill>
                <a:srgbClr val="1B433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Os dois cenários usam o mesmo commit.</a:t>
            </a:r>
          </a:p>
        </p:txBody>
      </p:sp>
    </p:spTree>
    <p:extLst>
      <p:ext uri="{BB962C8B-B14F-4D97-AF65-F5344CB8AC3E}">
        <p14:creationId xmlns:p14="http://schemas.microsoft.com/office/powerpoint/2010/main" val="111376362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e69a5992141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87B10E93-C4B1-4028-9F8B-C0113637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2447389C-BBEA-471E-BAB4-CCB06208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AVALIAÇÃO DO GRUPO 3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0596F916-C94C-431D-8C50-E69595C9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Comparação das ferramentas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F67311A3-B1F8-4CEB-B9D3-6D4C28AF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16" name="Tabela 11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238375"/>
                <a:gridCol w="2238375"/>
                <a:gridCol w="2238375"/>
                <a:gridCol w="2295525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Critério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njsscan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npm audit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Datree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StackHawk</a:t>
                      </a:r>
                    </a:p>
                  </a:txBody>
                  <a:tcPr marL="91440" marR="91440" marT="45720" marB="45720">
                    <a:solidFill>
                      <a:srgbClr val="1B433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Entrada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Código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Dependências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Kubernetes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Aplicação ativa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Situação no lab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Executado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Executado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Pesquisado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Pesquisado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3 alertas →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1 HIGH →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Sem execução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Sem execução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Limitação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Regras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Avisos conhecidos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Arquivado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4332"/>
                          </a:solidFill>
                          <a:latin typeface="Arial"/>
                          <a:ea typeface="Arial"/>
                          <a:cs typeface="Arial"/>
                        </a:rPr>
                        <a:t>Cobertura e conta</a:t>
                      </a:r>
                    </a:p>
                  </a:txBody>
                  <a:tcPr marL="91440" marR="91440" marT="45720" marB="45720">
                    <a:solidFill>
                      <a:srgbClr val="EEF8F1"/>
                    </a:solidFill>
                  </a:tcPr>
                </a:tc>
              </a:tr>
            </a:tbl>
          </a:graphicData>
        </a:graphic>
      </p:graphicFrame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E9839765-907A-4855-B532-4BCA9A6B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460E04EE-1815-4008-8F29-00B8BA05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SAST e SCA desde o começo; IaC antes do deploy e DAST no ambiente de teste.</a:t>
            </a:r>
          </a:p>
        </p:txBody>
      </p:sp>
    </p:spTree>
    <p:extLst>
      <p:ext uri="{BB962C8B-B14F-4D97-AF65-F5344CB8AC3E}">
        <p14:creationId xmlns:p14="http://schemas.microsoft.com/office/powerpoint/2010/main" val="2619974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c317f6c8048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9D153558-F4AB-4870-B3BA-CE3C903A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BD3A5527-2D1C-4162-AC48-A86A72B7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12 MINUTOS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DD8D9DC8-B9A9-4F9A-B57D-EDBCB802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Laboratório guiado: comandos e perguntas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EE62FA16-BE03-458B-94EA-83F92451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6117BFBA-66BA-4A84-9D2E-5E577782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01  Executar a versão insegura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FDA86A7A-AD8F-4DBC-8002-8C2200D5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47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7"/>
          </a:solidFill>
          <a:ln xmlns:a="http://schemas.openxmlformats.org/drawingml/2006/main" w="9525">
            <a:solidFill>
              <a:srgbClr val="D9EBDD"/>
            </a:solidFill>
          </a:ln>
        </p:spPr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14DE35E7-E957-44F7-8D36-885EACB1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0058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docker compose run --rm lab inseguro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5E8EAEC8-E65E-47B9-A906-0F45B0BA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02  Comparar código e dependências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98E87612-224F-4478-9C83-2103FAD4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Conferir XSS, exec, eval e a versão do lodash.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9B7720B5-460B-4F43-BACA-F56A00E4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03  Executar a versão corrigida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75D11045-094B-4977-9ED3-84841B51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47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7"/>
          </a:solidFill>
          <a:ln xmlns:a="http://schemas.openxmlformats.org/drawingml/2006/main" w="9525">
            <a:solidFill>
              <a:srgbClr val="D9EBDD"/>
            </a:solidFill>
          </a:ln>
        </p:spPr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3111E3FF-2278-4AFA-B7CC-F5CC966C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29225"/>
            <a:ext cx="10058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B433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B4332"/>
                </a:solidFill>
                <a:latin typeface="Consolas"/>
                <a:ea typeface="Consolas"/>
                <a:cs typeface="Consolas"/>
              </a:rPr>
              <a:t>docker compose run --rm lab corrigido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688BD8D9-BBDB-4112-A1F0-8B059C63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912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endParaRPr sz="1700" b="1">
              <a:solidFill>
                <a:srgbClr val="1B433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19067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3e1c16a214f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521B683A-9F2F-47BB-848D-6276DDB5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F70EE588-29B0-4E48-9312-ABBBC990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0380CA0E-FE58-488B-9511-81CF0B5D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O que o laboratório mostrou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BB1F1A76-2B5B-476A-934D-071B134C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78BA6BEB-E906-4A03-9C0C-2409FDA2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Aprendizado principal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BC11E257-EEB7-4794-9A4F-F64F8299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Código e bibliotecas têm problemas diferentes e precisam de correções diferentes.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A96B3F18-D030-46BD-AF37-6E62A81D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Limites do resultado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8FFF8168-7601-4808-8AEF-486D9BED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9660A392-D654-42EF-A19E-A4DB71FF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4476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 amostra tem falhas intencionais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4A6A2BB4-F4DF-4BD7-817A-048C2210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B45E3024-463B-4D76-A850-D13F4F66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81375"/>
            <a:ext cx="4476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Datree e StackHawk não rodaram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B18D1C00-BC98-4927-8801-1880D81A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B45A5E03-A127-48C2-B0B5-018DB893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4476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Zero alertas não garante segurança</a:t>
            </a:r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3E6C73D7-BB38-4B36-B0AA-078B0432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56E290D6-35B6-4402-9FA5-A8915163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0125"/>
            <a:ext cx="4476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 revisão humana continua necessária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3F28B095-50BA-431F-9D3D-BB124764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8A2363E3-C281-4938-9483-F64FF229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O scanner aponta o alerta; a equipe entende a causa, corrige e testa novamente.</a:t>
            </a:r>
          </a:p>
        </p:txBody>
      </p:sp>
    </p:spTree>
    <p:extLst>
      <p:ext uri="{BB962C8B-B14F-4D97-AF65-F5344CB8AC3E}">
        <p14:creationId xmlns:p14="http://schemas.microsoft.com/office/powerpoint/2010/main" val="3492410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Nature wave head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b7f2fb3054e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20000"/>
          </a:xfrm>
          <a:prstGeom xmlns:a="http://schemas.openxmlformats.org/drawingml/2006/main" prst="rect">
            <a:avLst/>
          </a:prstGeom>
        </p:spPr>
      </p:pic>
      <p:sp>
        <p:nvSpPr>
          <p:cNvPr id="25" name="Retângulo 24">
            <a:extLst xmlns:a="http://schemas.openxmlformats.org/drawingml/2006/main">
              <a:ext uri="{FF2B5EF4-FFF2-40B4-BE49-F238E27FC236}">
                <a16:creationId xmlns:a16="http://schemas.microsoft.com/office/drawing/2014/main" id="{03DEB16F-35B8-4C8C-B3EE-5B6AC070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64"/>
          </a:solidFill>
          <a:ln xmlns:a="http://schemas.openxmlformats.org/drawingml/2006/main" w="0">
            <a:noFill/>
          </a:ln>
        </p:spPr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C9D5485B-DA71-4D68-BD8C-1B835984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ENCERRAMENTO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44073B52-79D7-499F-91F9-B63A0A1E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Referências principais e perguntas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1E6F383D-55B9-49F2-B91C-5B816020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F493BDE3-2955-4979-87EF-74B0D2C9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Documentação e projetos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46B165BC-F550-404B-9D7B-93E824FA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AA42917B-DAE8-43AA-8040-95EE9B44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njsscan: repositório e documentação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1B5DB48C-BEC0-4021-B233-0FCC9E36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170C9D87-9BF7-4C6C-9739-42DE9B4E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4802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npm: audit e SBOM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70FA249F-4BCA-4FD0-A953-121AF831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06AADD3B-C37A-4E4A-AD91-30BA1631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7667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Datree: repositório e situação do projeto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2F1AEEA5-2008-4B34-BB96-B2AE6451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74CA2F04-842E-42CE-A886-06EEF794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0532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StackHawk: HawkScan e configuração</a:t>
            </a:r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80B5EB3A-9018-41ED-B6F6-AE07A1E7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Fundamentos e análise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1CC2DE92-2241-4DBA-A3C1-40B733E7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ADA767A8-5A59-488D-AA88-43B30F67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193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NIST SP 800-218 / SSDF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CD5A686F-71AE-454B-A3AB-BF011940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48025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A2E80B62-4009-4CC4-A09E-24D8A5FC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480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MITRE CWE-78, CWE-79 e CWE-95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8DF2AD59-1E01-4CC9-B9B7-DD5788E8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76675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4BE55273-6374-407F-A4F8-B0E7C4E7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766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GitHub Advisory Database</a:t>
            </a:r>
          </a:p>
        </p:txBody>
      </p:sp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36D9AD9A-EF45-48C4-BC39-24B77548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05325"/>
            <a:ext cx="209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A9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A96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Retângulo 21">
            <a:extLst xmlns:a="http://schemas.openxmlformats.org/drawingml/2006/main">
              <a:ext uri="{FF2B5EF4-FFF2-40B4-BE49-F238E27FC236}">
                <a16:creationId xmlns:a16="http://schemas.microsoft.com/office/drawing/2014/main" id="{8A49B826-867E-4F74-9879-F393B0B2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053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Relatórios reais do laboratório</a:t>
            </a:r>
          </a:p>
        </p:txBody>
      </p:sp>
      <p:sp>
        <p:nvSpPr>
          <p:cNvPr id="23" name="Retângulo 22">
            <a:extLst xmlns:a="http://schemas.openxmlformats.org/drawingml/2006/main">
              <a:ext uri="{FF2B5EF4-FFF2-40B4-BE49-F238E27FC236}">
                <a16:creationId xmlns:a16="http://schemas.microsoft.com/office/drawing/2014/main" id="{8B7AF70C-5D27-412B-8909-057365EB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DD"/>
          </a:solidFill>
          <a:ln xmlns:a="http://schemas.openxmlformats.org/drawingml/2006/main" w="0">
            <a:noFill/>
          </a:ln>
        </p:spPr>
      </p:sp>
      <p:sp>
        <p:nvSpPr>
          <p:cNvPr id="24" name="Retângulo 23">
            <a:extLst xmlns:a="http://schemas.openxmlformats.org/drawingml/2006/main">
              <a:ext uri="{FF2B5EF4-FFF2-40B4-BE49-F238E27FC236}">
                <a16:creationId xmlns:a16="http://schemas.microsoft.com/office/drawing/2014/main" id="{46540AFF-FACC-47EC-9603-F40934C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B4332"/>
                </a:solidFill>
                <a:latin typeface="Arial"/>
                <a:ea typeface="Arial"/>
                <a:cs typeface="Arial"/>
              </a:defRPr>
            </a:pPr>
            <a:endParaRPr sz="2000" b="1">
              <a:solidFill>
                <a:srgbClr val="1B433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4182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2026-09-16T20:48:09.6650000Z</dcterms:created>
  <dcterms:modified xsi:type="dcterms:W3CDTF">2026-09-16T20:48:09.6650000Z</dcterms:modified>
</coreProperties>
</file>