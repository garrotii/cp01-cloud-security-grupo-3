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6fbe9f9cc8a4080" /><Relationship Type="http://schemas.openxmlformats.org/officeDocument/2006/relationships/extended-properties" Target="/docProps/app.xml" Id="Re0a32682244043c1" /><Relationship Type="http://schemas.openxmlformats.org/officeDocument/2006/relationships/officeDocument" Target="/ppt/presentation.xml" Id="R10924e3218ce48d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fa734b17cf84927"/>
  </p:sldMasterIdLst>
  <p:notesMasterIdLst>
    <p:notesMasterId xmlns:r="http://schemas.openxmlformats.org/officeDocument/2006/relationships" r:id="Ra086028f76424b70"/>
  </p:notesMasterIdLst>
  <p:sldIdLst>
    <p:sldId xmlns:r="http://schemas.openxmlformats.org/officeDocument/2006/relationships" id="256" r:id="R89232ea2a6144c3e"/>
    <p:sldId xmlns:r="http://schemas.openxmlformats.org/officeDocument/2006/relationships" id="257" r:id="R4feda03b694a43d9"/>
    <p:sldId xmlns:r="http://schemas.openxmlformats.org/officeDocument/2006/relationships" id="258" r:id="Re7c2effa3eda49c5"/>
    <p:sldId xmlns:r="http://schemas.openxmlformats.org/officeDocument/2006/relationships" id="259" r:id="R02b52d2cf7d24269"/>
    <p:sldId xmlns:r="http://schemas.openxmlformats.org/officeDocument/2006/relationships" id="260" r:id="R61ac69f772274c11"/>
    <p:sldId xmlns:r="http://schemas.openxmlformats.org/officeDocument/2006/relationships" id="261" r:id="R28adfd172802406e"/>
    <p:sldId xmlns:r="http://schemas.openxmlformats.org/officeDocument/2006/relationships" id="262" r:id="Rce5bf33f82754f89"/>
    <p:sldId xmlns:r="http://schemas.openxmlformats.org/officeDocument/2006/relationships" id="263" r:id="Re9d75db4f50d4ac0"/>
    <p:sldId xmlns:r="http://schemas.openxmlformats.org/officeDocument/2006/relationships" id="264" r:id="R1856461ee8ba400f"/>
    <p:sldId xmlns:r="http://schemas.openxmlformats.org/officeDocument/2006/relationships" id="265" r:id="Rbaba5d1d7c734a4d"/>
    <p:sldId xmlns:r="http://schemas.openxmlformats.org/officeDocument/2006/relationships" id="266" r:id="Re21f3c2b0f3f4785"/>
    <p:sldId xmlns:r="http://schemas.openxmlformats.org/officeDocument/2006/relationships" id="267" r:id="R3c9c33b582b94baa"/>
    <p:sldId xmlns:r="http://schemas.openxmlformats.org/officeDocument/2006/relationships" id="268" r:id="R1aa8e53e586d4419"/>
    <p:sldId xmlns:r="http://schemas.openxmlformats.org/officeDocument/2006/relationships" id="269" r:id="Rc08b82491366439d"/>
    <p:sldId xmlns:r="http://schemas.openxmlformats.org/officeDocument/2006/relationships" id="270" r:id="R2b3fd2feca914fa6"/>
    <p:sldId xmlns:r="http://schemas.openxmlformats.org/officeDocument/2006/relationships" id="271" r:id="Ref23a8656eff4ae2"/>
    <p:sldId xmlns:r="http://schemas.openxmlformats.org/officeDocument/2006/relationships" id="272" r:id="R842e4d0d12e54073"/>
    <p:sldId xmlns:r="http://schemas.openxmlformats.org/officeDocument/2006/relationships" id="273" r:id="R5665b0e9374b403a"/>
    <p:sldId xmlns:r="http://schemas.openxmlformats.org/officeDocument/2006/relationships" id="274" r:id="Rdf3022c8668c4268"/>
    <p:sldId xmlns:r="http://schemas.openxmlformats.org/officeDocument/2006/relationships" id="275" r:id="R6693dc6e689544e2"/>
    <p:sldId xmlns:r="http://schemas.openxmlformats.org/officeDocument/2006/relationships" id="276" r:id="R6695a97868764047"/>
    <p:sldId xmlns:r="http://schemas.openxmlformats.org/officeDocument/2006/relationships" id="277" r:id="Rde73abc681724baa"/>
    <p:sldId xmlns:r="http://schemas.openxmlformats.org/officeDocument/2006/relationships" id="278" r:id="R0f6e2a281aa2477c"/>
    <p:sldId xmlns:r="http://schemas.openxmlformats.org/officeDocument/2006/relationships" id="279" r:id="Re4b51f879edf4e4c"/>
    <p:sldId xmlns:r="http://schemas.openxmlformats.org/officeDocument/2006/relationships" id="280" r:id="R9accd7798bad4802"/>
    <p:sldId xmlns:r="http://schemas.openxmlformats.org/officeDocument/2006/relationships" id="281" r:id="R8445f7ee49ea46e7"/>
    <p:sldId xmlns:r="http://schemas.openxmlformats.org/officeDocument/2006/relationships" id="282" r:id="Rcd84b41917fa4d0a"/>
    <p:sldId xmlns:r="http://schemas.openxmlformats.org/officeDocument/2006/relationships" id="283" r:id="R83e16e25a52e4507"/>
    <p:sldId xmlns:r="http://schemas.openxmlformats.org/officeDocument/2006/relationships" id="284" r:id="R3385e702807e479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2375eac1a9a43ad" /><Relationship Type="http://schemas.openxmlformats.org/officeDocument/2006/relationships/slideMaster" Target="/ppt/slideMasters/slideMaster1.xml" Id="Refa734b17cf84927" /><Relationship Type="http://schemas.openxmlformats.org/officeDocument/2006/relationships/notesMaster" Target="/ppt/notesMasters/notesMaster1.xml" Id="Ra086028f76424b70" /><Relationship Type="http://schemas.openxmlformats.org/officeDocument/2006/relationships/presProps" Target="/ppt/presProps.xml" Id="Rb683769dc5794f43" /><Relationship Type="http://schemas.openxmlformats.org/officeDocument/2006/relationships/tableStyles" Target="/ppt/tableStyles.xml" Id="R98df7f11ff934b56" /><Relationship Type="http://schemas.openxmlformats.org/officeDocument/2006/relationships/slide" Target="/ppt/slides/slide1.xml" Id="R89232ea2a6144c3e" /><Relationship Type="http://schemas.openxmlformats.org/officeDocument/2006/relationships/slide" Target="/ppt/slides/slide2.xml" Id="R4feda03b694a43d9" /><Relationship Type="http://schemas.openxmlformats.org/officeDocument/2006/relationships/slide" Target="/ppt/slides/slide3.xml" Id="Re7c2effa3eda49c5" /><Relationship Type="http://schemas.openxmlformats.org/officeDocument/2006/relationships/slide" Target="/ppt/slides/slide4.xml" Id="R02b52d2cf7d24269" /><Relationship Type="http://schemas.openxmlformats.org/officeDocument/2006/relationships/slide" Target="/ppt/slides/slide5.xml" Id="R61ac69f772274c11" /><Relationship Type="http://schemas.openxmlformats.org/officeDocument/2006/relationships/slide" Target="/ppt/slides/slide6.xml" Id="R28adfd172802406e" /><Relationship Type="http://schemas.openxmlformats.org/officeDocument/2006/relationships/slide" Target="/ppt/slides/slide7.xml" Id="Rce5bf33f82754f89" /><Relationship Type="http://schemas.openxmlformats.org/officeDocument/2006/relationships/slide" Target="/ppt/slides/slide8.xml" Id="Re9d75db4f50d4ac0" /><Relationship Type="http://schemas.openxmlformats.org/officeDocument/2006/relationships/slide" Target="/ppt/slides/slide9.xml" Id="R1856461ee8ba400f" /><Relationship Type="http://schemas.openxmlformats.org/officeDocument/2006/relationships/slide" Target="/ppt/slides/slide10.xml" Id="Rbaba5d1d7c734a4d" /><Relationship Type="http://schemas.openxmlformats.org/officeDocument/2006/relationships/slide" Target="/ppt/slides/slide11.xml" Id="Re21f3c2b0f3f4785" /><Relationship Type="http://schemas.openxmlformats.org/officeDocument/2006/relationships/slide" Target="/ppt/slides/slide12.xml" Id="R3c9c33b582b94baa" /><Relationship Type="http://schemas.openxmlformats.org/officeDocument/2006/relationships/slide" Target="/ppt/slides/slide13.xml" Id="R1aa8e53e586d4419" /><Relationship Type="http://schemas.openxmlformats.org/officeDocument/2006/relationships/slide" Target="/ppt/slides/slide14.xml" Id="Rc08b82491366439d" /><Relationship Type="http://schemas.openxmlformats.org/officeDocument/2006/relationships/slide" Target="/ppt/slides/slide15.xml" Id="R2b3fd2feca914fa6" /><Relationship Type="http://schemas.openxmlformats.org/officeDocument/2006/relationships/slide" Target="/ppt/slides/slide16.xml" Id="Ref23a8656eff4ae2" /><Relationship Type="http://schemas.openxmlformats.org/officeDocument/2006/relationships/slide" Target="/ppt/slides/slide17.xml" Id="R842e4d0d12e54073" /><Relationship Type="http://schemas.openxmlformats.org/officeDocument/2006/relationships/slide" Target="/ppt/slides/slide18.xml" Id="R5665b0e9374b403a" /><Relationship Type="http://schemas.openxmlformats.org/officeDocument/2006/relationships/slide" Target="/ppt/slides/slide19.xml" Id="Rdf3022c8668c4268" /><Relationship Type="http://schemas.openxmlformats.org/officeDocument/2006/relationships/slide" Target="/ppt/slides/slide20.xml" Id="R6693dc6e689544e2" /><Relationship Type="http://schemas.openxmlformats.org/officeDocument/2006/relationships/slide" Target="/ppt/slides/slide21.xml" Id="R6695a97868764047" /><Relationship Type="http://schemas.openxmlformats.org/officeDocument/2006/relationships/slide" Target="/ppt/slides/slide22.xml" Id="Rde73abc681724baa" /><Relationship Type="http://schemas.openxmlformats.org/officeDocument/2006/relationships/slide" Target="/ppt/slides/slide23.xml" Id="R0f6e2a281aa2477c" /><Relationship Type="http://schemas.openxmlformats.org/officeDocument/2006/relationships/slide" Target="/ppt/slides/slide24.xml" Id="Re4b51f879edf4e4c" /><Relationship Type="http://schemas.openxmlformats.org/officeDocument/2006/relationships/slide" Target="/ppt/slides/slide25.xml" Id="R9accd7798bad4802" /><Relationship Type="http://schemas.openxmlformats.org/officeDocument/2006/relationships/slide" Target="/ppt/slides/slide26.xml" Id="R8445f7ee49ea46e7" /><Relationship Type="http://schemas.openxmlformats.org/officeDocument/2006/relationships/slide" Target="/ppt/slides/slide27.xml" Id="Rcd84b41917fa4d0a" /><Relationship Type="http://schemas.openxmlformats.org/officeDocument/2006/relationships/slide" Target="/ppt/slides/slide28.xml" Id="R83e16e25a52e4507" /><Relationship Type="http://schemas.openxmlformats.org/officeDocument/2006/relationships/slide" Target="/ppt/slides/slide29.xml" Id="R3385e702807e479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ada53ce7e9e4bb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7dcd36a340d45e6" /><Relationship Type="http://schemas.openxmlformats.org/officeDocument/2006/relationships/notesMaster" Target="/ppt/notesMasters/notesMaster1.xml" Id="Red0588a0bfa14c8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e13171f7cdb4ee5" /><Relationship Type="http://schemas.openxmlformats.org/officeDocument/2006/relationships/notesMaster" Target="/ppt/notesMasters/notesMaster1.xml" Id="R507d6bf9a0fd49d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bb9ee5ad4574d45" /><Relationship Type="http://schemas.openxmlformats.org/officeDocument/2006/relationships/notesMaster" Target="/ppt/notesMasters/notesMaster1.xml" Id="R69f701828e47468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a537562b59f4bc7" /><Relationship Type="http://schemas.openxmlformats.org/officeDocument/2006/relationships/notesMaster" Target="/ppt/notesMasters/notesMaster1.xml" Id="R4986f39e294c43a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6aa3966730c4998" /><Relationship Type="http://schemas.openxmlformats.org/officeDocument/2006/relationships/notesMaster" Target="/ppt/notesMasters/notesMaster1.xml" Id="R0d7432f238f343b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de3ed1a548c4fde" /><Relationship Type="http://schemas.openxmlformats.org/officeDocument/2006/relationships/notesMaster" Target="/ppt/notesMasters/notesMaster1.xml" Id="R7fd7e5911c9344e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661c5be1ad14704" /><Relationship Type="http://schemas.openxmlformats.org/officeDocument/2006/relationships/notesMaster" Target="/ppt/notesMasters/notesMaster1.xml" Id="Rd90dd3dcc42840c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dfeb784650b422d" /><Relationship Type="http://schemas.openxmlformats.org/officeDocument/2006/relationships/notesMaster" Target="/ppt/notesMasters/notesMaster1.xml" Id="R167a4166e5ad4cd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1f96a54f58f4f9f" /><Relationship Type="http://schemas.openxmlformats.org/officeDocument/2006/relationships/notesMaster" Target="/ppt/notesMasters/notesMaster1.xml" Id="Rb2a7cfb446724b1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566aa30444a4519" /><Relationship Type="http://schemas.openxmlformats.org/officeDocument/2006/relationships/notesMaster" Target="/ppt/notesMasters/notesMaster1.xml" Id="Rc27b1aa787a54b9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47166a105ac4628" /><Relationship Type="http://schemas.openxmlformats.org/officeDocument/2006/relationships/notesMaster" Target="/ppt/notesMasters/notesMaster1.xml" Id="Rd37a77d5129f420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2e261b499f04186" /><Relationship Type="http://schemas.openxmlformats.org/officeDocument/2006/relationships/notesMaster" Target="/ppt/notesMasters/notesMaster1.xml" Id="R150afb7cbe734c2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37b301bdd1d4cf4" /><Relationship Type="http://schemas.openxmlformats.org/officeDocument/2006/relationships/notesMaster" Target="/ppt/notesMasters/notesMaster1.xml" Id="R19b33dca83254f5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ccd817b9d4047dc" /><Relationship Type="http://schemas.openxmlformats.org/officeDocument/2006/relationships/notesMaster" Target="/ppt/notesMasters/notesMaster1.xml" Id="Ra88b9dce7727450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5974710bdd145b2" /><Relationship Type="http://schemas.openxmlformats.org/officeDocument/2006/relationships/notesMaster" Target="/ppt/notesMasters/notesMaster1.xml" Id="Rf15986cb5f4d4a7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92141334d204046" /><Relationship Type="http://schemas.openxmlformats.org/officeDocument/2006/relationships/notesMaster" Target="/ppt/notesMasters/notesMaster1.xml" Id="R620a486af2494f4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4a52a7ebbb8456c" /><Relationship Type="http://schemas.openxmlformats.org/officeDocument/2006/relationships/notesMaster" Target="/ppt/notesMasters/notesMaster1.xml" Id="R0d3cc09d6f37430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195daa0a0b34bd7" /><Relationship Type="http://schemas.openxmlformats.org/officeDocument/2006/relationships/notesMaster" Target="/ppt/notesMasters/notesMaster1.xml" Id="R6e1758695d7f425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12a8d9e633c40ea" /><Relationship Type="http://schemas.openxmlformats.org/officeDocument/2006/relationships/notesMaster" Target="/ppt/notesMasters/notesMaster1.xml" Id="R1e756db090c44a3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fb6389378da4308" /><Relationship Type="http://schemas.openxmlformats.org/officeDocument/2006/relationships/notesMaster" Target="/ppt/notesMasters/notesMaster1.xml" Id="R36fad17c14a24d0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84400ecc7bc4323" /><Relationship Type="http://schemas.openxmlformats.org/officeDocument/2006/relationships/notesMaster" Target="/ppt/notesMasters/notesMaster1.xml" Id="R8f7f1615d1764e6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19551471b0e425c" /><Relationship Type="http://schemas.openxmlformats.org/officeDocument/2006/relationships/notesMaster" Target="/ppt/notesMasters/notesMaster1.xml" Id="R4411b8f3955e4e60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19fa675c444462a" /><Relationship Type="http://schemas.openxmlformats.org/officeDocument/2006/relationships/notesMaster" Target="/ppt/notesMasters/notesMaster1.xml" Id="Re3f5ba6287b7464d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d6de7837e544e0b" /><Relationship Type="http://schemas.openxmlformats.org/officeDocument/2006/relationships/notesMaster" Target="/ppt/notesMasters/notesMaster1.xml" Id="R588f580ac29e41b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a221bfebea824da3" /><Relationship Type="http://schemas.openxmlformats.org/officeDocument/2006/relationships/notesMaster" Target="/ppt/notesMasters/notesMaster1.xml" Id="R1fcdaefdb5164362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a74a6219662427e" /><Relationship Type="http://schemas.openxmlformats.org/officeDocument/2006/relationships/notesMaster" Target="/ppt/notesMasters/notesMaster1.xml" Id="Rc94ef771039f449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9122e6242b94ca9" /><Relationship Type="http://schemas.openxmlformats.org/officeDocument/2006/relationships/notesMaster" Target="/ppt/notesMasters/notesMaster1.xml" Id="R604a9d3b706c4b62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db501fffd748485e" /><Relationship Type="http://schemas.openxmlformats.org/officeDocument/2006/relationships/notesMaster" Target="/ppt/notesMasters/notesMaster1.xml" Id="Rf2f16188991d4d17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118152e3f5547d8" /><Relationship Type="http://schemas.openxmlformats.org/officeDocument/2006/relationships/notesMaster" Target="/ppt/notesMasters/notesMaster1.xml" Id="R1a54370d6e1c40d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Apresentação do grupo 3. O conteúdo e os resultados pertencem ao laboratório próprio.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https://csrc.nist.gov/pubs/sp/800/218/final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https://csrc.nist.gov/pubs/sp/800/218/final</a:t>
            </a:r>
          </a:p>
          <a:p xmlns:a="http://schemas.openxmlformats.org/drawingml/2006/main">
            <a:r>
              <a:t>https://docs.npmjs.com/cli/v11/commands/npm-sbom/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https://github.com/ajinabraham/njsscan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https://github.com/ajinabraham/njsscan</a:t>
            </a:r>
          </a:p>
          <a:p xmlns:a="http://schemas.openxmlformats.org/drawingml/2006/main">
            <a:r>
              <a:t>reports/inseguro/njsscan.json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docs/ANALISE-ACHADOS.md</a:t>
            </a:r>
          </a:p>
          <a:p xmlns:a="http://schemas.openxmlformats.org/drawingml/2006/main">
            <a:r>
              <a:t>https://cwe.mitre.org/data/definitions/79.html</a:t>
            </a:r>
          </a:p>
          <a:p xmlns:a="http://schemas.openxmlformats.org/drawingml/2006/main">
            <a:r>
              <a:t>https://cwe.mitre.org/data/definitions/78.html</a:t>
            </a:r>
          </a:p>
          <a:p xmlns:a="http://schemas.openxmlformats.org/drawingml/2006/main">
            <a:r>
              <a:t>https://cwe.mitre.org/data/definitions/95.html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targets/inseguro/app.js</a:t>
            </a:r>
          </a:p>
          <a:p xmlns:a="http://schemas.openxmlformats.org/drawingml/2006/main">
            <a:r>
              <a:t>targets/corrigido/app.js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targets/inseguro/app.js</a:t>
            </a:r>
          </a:p>
          <a:p xmlns:a="http://schemas.openxmlformats.org/drawingml/2006/main">
            <a:r>
              <a:t>targets/corrigido/app.js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https://docs.npmjs.com/cli/v11/commands/npm-audit/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https://docs.npmjs.com/cli/v11/commands/npm-audit/</a:t>
            </a:r>
          </a:p>
          <a:p xmlns:a="http://schemas.openxmlformats.org/drawingml/2006/main">
            <a:r>
              <a:t>reports/inseguro/npm-audit.json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https://docs.npmjs.com/cli/v11/commands/npm-audit/</a:t>
            </a:r>
          </a:p>
          <a:p xmlns:a="http://schemas.openxmlformats.org/drawingml/2006/main">
            <a:r>
              <a:t>reports/corrigido/npm-audit.json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https://github.com/datreeio/datree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iac/pod-inseguro.yaml</a:t>
            </a:r>
          </a:p>
          <a:p xmlns:a="http://schemas.openxmlformats.org/drawingml/2006/main">
            <a:r>
              <a:t>iac/pod-corrigido.yaml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https://docs.stackhawk.com/hawkscan/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https://docs.stackhawk.com/hawkscan/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reports/inseguro/gate.json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reports/corrigido/gate.json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https://github.com/garrotii/cp01-cloud-security-grupo-3/actions/runs/35144999487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https://github.com/garrotii/cp01-cloud-security-grupo-3/actions/runs/35144977032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https://github.com/ajinabraham/njsscan</a:t>
            </a:r>
          </a:p>
          <a:p xmlns:a="http://schemas.openxmlformats.org/drawingml/2006/main">
            <a:r>
              <a:t>https://docs.npmjs.com/cli/v11/commands/npm-audit/</a:t>
            </a:r>
          </a:p>
          <a:p xmlns:a="http://schemas.openxmlformats.org/drawingml/2006/main">
            <a:r>
              <a:t>https://github.com/datreeio/datree</a:t>
            </a:r>
          </a:p>
          <a:p xmlns:a="http://schemas.openxmlformats.org/drawingml/2006/main">
            <a:r>
              <a:t>https://docs.stackhawk.com/hawkscan/</a:t>
            </a:r>
          </a:p>
          <a:p xmlns:a="http://schemas.openxmlformats.org/drawingml/2006/main">
            <a:r>
              <a:t>https://csrc.nist.gov/pubs/sp/800/218/final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https://github.com/ajinabraham/njsscan</a:t>
            </a:r>
          </a:p>
          <a:p xmlns:a="http://schemas.openxmlformats.org/drawingml/2006/main">
            <a:r>
              <a:t>https://docs.npmjs.com/cli/v11/commands/npm-audit/</a:t>
            </a:r>
          </a:p>
          <a:p xmlns:a="http://schemas.openxmlformats.org/drawingml/2006/main">
            <a:r>
              <a:t>https://github.com/datreeio/datree</a:t>
            </a:r>
          </a:p>
          <a:p xmlns:a="http://schemas.openxmlformats.org/drawingml/2006/main">
            <a:r>
              <a:t>https://docs.stackhawk.com/hawkscan/</a:t>
            </a:r>
          </a:p>
          <a:p xmlns:a="http://schemas.openxmlformats.org/drawingml/2006/main">
            <a:r>
              <a:t>https://csrc.nist.gov/pubs/sp/800/218/final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483f70885a43b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75ecf186f234435" /><Relationship Type="http://schemas.openxmlformats.org/officeDocument/2006/relationships/slideLayout" Target="/ppt/slideLayouts/slideLayout1.xml" Id="R99f61ab0fc9a45a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9f61ab0fc9a45a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d4ecda6c68444a" /><Relationship Type="http://schemas.openxmlformats.org/officeDocument/2006/relationships/notesSlide" Target="/ppt/notesSlides/notesSlide1.xml" Id="R60c35a2de8374bd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00811792a74700" /><Relationship Type="http://schemas.openxmlformats.org/officeDocument/2006/relationships/notesSlide" Target="/ppt/notesSlides/notesSlide2.xml" Id="R6833fccbdd2b4e0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f1689a85774fbd" /><Relationship Type="http://schemas.openxmlformats.org/officeDocument/2006/relationships/notesSlide" Target="/ppt/notesSlides/notesSlide3.xml" Id="Re3513c29b3194a4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5c4eb6bf7d43bd" /><Relationship Type="http://schemas.openxmlformats.org/officeDocument/2006/relationships/notesSlide" Target="/ppt/notesSlides/notesSlide4.xml" Id="R49e5f1cd3f834b3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42b0bbf8e54c26" /><Relationship Type="http://schemas.openxmlformats.org/officeDocument/2006/relationships/notesSlide" Target="/ppt/notesSlides/notesSlide5.xml" Id="R6700dc675178428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819bfae27244ba" /><Relationship Type="http://schemas.openxmlformats.org/officeDocument/2006/relationships/notesSlide" Target="/ppt/notesSlides/notesSlide6.xml" Id="R21d99767360048c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b08cc8284544ad" /><Relationship Type="http://schemas.openxmlformats.org/officeDocument/2006/relationships/notesSlide" Target="/ppt/notesSlides/notesSlide7.xml" Id="Rae149a7be986471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c2985f34574d17" /><Relationship Type="http://schemas.openxmlformats.org/officeDocument/2006/relationships/image" Target="/ppt/media/image.png" Id="Rfb7198f3355a4afa" /><Relationship Type="http://schemas.openxmlformats.org/officeDocument/2006/relationships/notesSlide" Target="/ppt/notesSlides/notesSlide8.xml" Id="Rc34e1077ef584d4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3651c6cdfa44a4" /><Relationship Type="http://schemas.openxmlformats.org/officeDocument/2006/relationships/notesSlide" Target="/ppt/notesSlides/notesSlide9.xml" Id="R1ac01634026e4b0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eea26415e145eb" /><Relationship Type="http://schemas.openxmlformats.org/officeDocument/2006/relationships/notesSlide" Target="/ppt/notesSlides/notesSlide10.xml" Id="Rb6099f99a22f4db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02b60ce0ea41eb" /><Relationship Type="http://schemas.openxmlformats.org/officeDocument/2006/relationships/notesSlide" Target="/ppt/notesSlides/notesSlide11.xml" Id="Ra5af07fbd85b4d9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5b9523b0f5441f" /><Relationship Type="http://schemas.openxmlformats.org/officeDocument/2006/relationships/notesSlide" Target="/ppt/notesSlides/notesSlide12.xml" Id="Re55cbd2a790a425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563d5f0bc141ef" /><Relationship Type="http://schemas.openxmlformats.org/officeDocument/2006/relationships/image" Target="/ppt/media/image2.png" Id="Rdf7b40ae84e14dd0" /><Relationship Type="http://schemas.openxmlformats.org/officeDocument/2006/relationships/notesSlide" Target="/ppt/notesSlides/notesSlide13.xml" Id="Ra75a0efd61f14ce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b05024e7e440d6" /><Relationship Type="http://schemas.openxmlformats.org/officeDocument/2006/relationships/image" Target="/ppt/media/image3.png" Id="R523e3298681e46d8" /><Relationship Type="http://schemas.openxmlformats.org/officeDocument/2006/relationships/notesSlide" Target="/ppt/notesSlides/notesSlide14.xml" Id="R38389cab0fd64ae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10eeceed224b47" /><Relationship Type="http://schemas.openxmlformats.org/officeDocument/2006/relationships/notesSlide" Target="/ppt/notesSlides/notesSlide15.xml" Id="R03d84419ddb2473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1f559688344df0" /><Relationship Type="http://schemas.openxmlformats.org/officeDocument/2006/relationships/notesSlide" Target="/ppt/notesSlides/notesSlide16.xml" Id="Re01b53471c6f432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559b9d3deb417c" /><Relationship Type="http://schemas.openxmlformats.org/officeDocument/2006/relationships/notesSlide" Target="/ppt/notesSlides/notesSlide17.xml" Id="Refc0e2cdaa934f5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ec56eb9d2b4b22" /><Relationship Type="http://schemas.openxmlformats.org/officeDocument/2006/relationships/notesSlide" Target="/ppt/notesSlides/notesSlide18.xml" Id="Re06432950ba7469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dd2c0b381146ae" /><Relationship Type="http://schemas.openxmlformats.org/officeDocument/2006/relationships/image" Target="/ppt/media/image4.png" Id="Rc0f91396af6d4aec" /><Relationship Type="http://schemas.openxmlformats.org/officeDocument/2006/relationships/notesSlide" Target="/ppt/notesSlides/notesSlide19.xml" Id="Rfbddd4e84af34b1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25016d782c4c11" /><Relationship Type="http://schemas.openxmlformats.org/officeDocument/2006/relationships/image" Target="/ppt/media/image5.png" Id="R0c1162222aff486d" /><Relationship Type="http://schemas.openxmlformats.org/officeDocument/2006/relationships/notesSlide" Target="/ppt/notesSlides/notesSlide20.xml" Id="R62ba32410e5e465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94d84ff10743c4" /><Relationship Type="http://schemas.openxmlformats.org/officeDocument/2006/relationships/notesSlide" Target="/ppt/notesSlides/notesSlide21.xml" Id="R195b6bd761d7485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4772d563a64f29" /><Relationship Type="http://schemas.openxmlformats.org/officeDocument/2006/relationships/image" Target="/ppt/media/image6.png" Id="R25eb704e90024817" /><Relationship Type="http://schemas.openxmlformats.org/officeDocument/2006/relationships/notesSlide" Target="/ppt/notesSlides/notesSlide22.xml" Id="R62d464d134b348a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4fc00187354faa" /><Relationship Type="http://schemas.openxmlformats.org/officeDocument/2006/relationships/image" Target="/ppt/media/image7.png" Id="R1734a191341a4568" /><Relationship Type="http://schemas.openxmlformats.org/officeDocument/2006/relationships/notesSlide" Target="/ppt/notesSlides/notesSlide23.xml" Id="R34e0cb8d77f945e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bd045e133f404e" /><Relationship Type="http://schemas.openxmlformats.org/officeDocument/2006/relationships/image" Target="/ppt/media/image.jpeg" Id="R66046e1e881143cf" /><Relationship Type="http://schemas.openxmlformats.org/officeDocument/2006/relationships/notesSlide" Target="/ppt/notesSlides/notesSlide24.xml" Id="R41158a883ebd4ad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ed10124723481f" /><Relationship Type="http://schemas.openxmlformats.org/officeDocument/2006/relationships/image" Target="/ppt/media/image2.jpeg" Id="R7cf26317c7bb497c" /><Relationship Type="http://schemas.openxmlformats.org/officeDocument/2006/relationships/notesSlide" Target="/ppt/notesSlides/notesSlide25.xml" Id="Rc54f637ed4324e08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7b1cf1194c41a0" /><Relationship Type="http://schemas.openxmlformats.org/officeDocument/2006/relationships/notesSlide" Target="/ppt/notesSlides/notesSlide26.xml" Id="Rd85ce3a251164cad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a20dc704854016" /><Relationship Type="http://schemas.openxmlformats.org/officeDocument/2006/relationships/notesSlide" Target="/ppt/notesSlides/notesSlide27.xml" Id="R666182edbf234b7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6e8298b0d74db1" /><Relationship Type="http://schemas.openxmlformats.org/officeDocument/2006/relationships/notesSlide" Target="/ppt/notesSlides/notesSlide28.xml" Id="Rc720ab8d19e2431e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c5aa03f2ba4f30" /><Relationship Type="http://schemas.openxmlformats.org/officeDocument/2006/relationships/notesSlide" Target="/ppt/notesSlides/notesSlide29.xml" Id="R8de85fb96fb8417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203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B4146E-85E1-49A9-A0A7-D31DE7FC6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FB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32127D-46EE-4AB3-B0A0-F83A37923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0550"/>
            <a:ext cx="1000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CHECK POINT 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8235D4-3382-4F7C-8580-811FBADE8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10572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Ferramentas de segurança</a:t>
            </a:r>
          </a:p>
          <a:p xmlns:a="http://schemas.openxmlformats.org/drawingml/2006/main">
            <a:pPr>
              <a:defRPr sz="4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 pipeline DevSecOps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D37EC7-259E-423A-B242-54017D217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81375"/>
            <a:ext cx="1028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ACCAD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CCADC"/>
                </a:solidFill>
                <a:latin typeface="Arial"/>
                <a:ea typeface="Arial"/>
                <a:cs typeface="Arial"/>
              </a:rPr>
              <a:t>njsscan  |  npm audit  |  Datree  |  StackHawk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B47E69-9B0C-4AD7-8D7B-D213C6B3C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95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FB9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204820-861A-4FA0-A13A-12C70F7B3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952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 3  •  CLOUD SECURITY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427D32-A68A-4511-8889-F75DF7AFC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ACCADC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CCADC"/>
                </a:solidFill>
                <a:latin typeface="Arial"/>
                <a:ea typeface="Arial"/>
                <a:cs typeface="Arial"/>
              </a:rPr>
              <a:t>Professor Fabio Pires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1AA96A-8B09-4231-9F3A-E35FB7DF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34075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Leonardo Garroti  •  Aquiles Fonseca  •  Leandro de Souza</a:t>
            </a:r>
          </a:p>
        </p:txBody>
      </p:sp>
    </p:spTree>
    <p:extLst>
      <p:ext uri="{BB962C8B-B14F-4D97-AF65-F5344CB8AC3E}">
        <p14:creationId xmlns:p14="http://schemas.microsoft.com/office/powerpoint/2010/main" val="135649454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E60ACC-53C8-46DD-B766-4596AB11F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FB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7BA72A-067B-4A6E-A701-6B9CC5377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GRUPO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5C3F45-A196-44DF-B8C5-406A0F20A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Equipe e objetivo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197AC5-D37E-4AD7-A529-46EC5C1D7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B1C403-7A75-45CC-B0F2-74399B57B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0500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Integrantes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9BAB31-C4FA-4CF5-A72C-0EA4C6F70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48577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Leonardo Garroti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Aquiles Fonseca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Leandro de Souza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DA0476-5C9F-4F27-B30D-F6BB59BF8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0500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Objetivo do trabalho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D38ABC-B1D0-41BC-9FD1-64C992107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76500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Entender o que cada ferramenta verifica e mostrar como os alertas levam a correções no código e nas dependências.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3428F4-532E-4363-831D-049C1C9B2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85775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Repositório público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9C5C0C-F82B-4B89-904C-74B7B4472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286375"/>
            <a:ext cx="4857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5758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5758A"/>
                </a:solidFill>
                <a:latin typeface="Arial"/>
                <a:ea typeface="Arial"/>
                <a:cs typeface="Arial"/>
              </a:rPr>
              <a:t>github.com/garrotii/</a:t>
            </a:r>
          </a:p>
          <a:p xmlns:a="http://schemas.openxmlformats.org/drawingml/2006/main">
            <a:pPr>
              <a:defRPr sz="1650" b="0">
                <a:solidFill>
                  <a:srgbClr val="65758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5758A"/>
                </a:solidFill>
                <a:latin typeface="Arial"/>
                <a:ea typeface="Arial"/>
                <a:cs typeface="Arial"/>
              </a:rPr>
              <a:t>cp01-cloud-security-grupo-3</a:t>
            </a:r>
          </a:p>
        </p:txBody>
      </p:sp>
    </p:spTree>
    <p:extLst>
      <p:ext uri="{BB962C8B-B14F-4D97-AF65-F5344CB8AC3E}">
        <p14:creationId xmlns:p14="http://schemas.microsoft.com/office/powerpoint/2010/main" val="44367036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2387A1-7786-42C2-814E-DFBD14E35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FB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B330AC-1488-4497-9131-84DB54713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30 MINUTOS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2B93B8-2933-4361-9E0E-9DC89C68D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Agenda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882390-7C88-45F2-AAA6-E6649FBE5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85800" y="1809750"/>
          <a:ext xmlns:a="http://schemas.openxmlformats.org/drawingml/2006/main" cx="10820400" cy="3810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8820150"/>
              </a:tblGrid>
              <a:tr h="6350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Tempo</a:t>
                      </a:r>
                    </a:p>
                  </a:txBody>
                  <a:tcPr marL="91440" marR="91440" marT="45720" marB="45720">
                    <a:solidFill>
                      <a:srgbClr val="0B20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Parte da apresentação</a:t>
                      </a:r>
                    </a:p>
                  </a:txBody>
                  <a:tcPr marL="91440" marR="91440" marT="45720" marB="45720">
                    <a:solidFill>
                      <a:srgbClr val="0B2037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3 min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Fundamentos e pipeline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10 min</a:t>
                      </a:r>
                    </a:p>
                  </a:txBody>
                  <a:tcPr marL="91440" marR="91440" marT="45720" marB="45720">
                    <a:solidFill>
                      <a:srgbClr val="ED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As quatro ferramentas do grupo</a:t>
                      </a:r>
                    </a:p>
                  </a:txBody>
                  <a:tcPr marL="91440" marR="91440" marT="45720" marB="45720">
                    <a:solidFill>
                      <a:srgbClr val="EDF6F9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12 min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Laboratório guiado com SAST e SCA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3 min</a:t>
                      </a:r>
                    </a:p>
                  </a:txBody>
                  <a:tcPr marL="91440" marR="91440" marT="45720" marB="45720">
                    <a:solidFill>
                      <a:srgbClr val="ED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Comparação e conclusão</a:t>
                      </a:r>
                    </a:p>
                  </a:txBody>
                  <a:tcPr marL="91440" marR="91440" marT="45720" marB="45720">
                    <a:solidFill>
                      <a:srgbClr val="EDF6F9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2 min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Perguntas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5135500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C1D236-C9BD-4F10-9C55-B7DFE3A0B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FB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524659-BECA-4942-B586-9A2DA3A6D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PIPELINE DEVSECOPS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798FF5-6256-405A-A5BF-F307D54E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Quatro frentes de segurança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9CF730-4381-4229-A909-1A40FBDBE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85800" y="1809750"/>
          <a:ext xmlns:a="http://schemas.openxmlformats.org/drawingml/2006/main" cx="108204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09750"/>
                <a:gridCol w="2381250"/>
                <a:gridCol w="3429000"/>
                <a:gridCol w="3200400"/>
              </a:tblGrid>
              <a:tr h="6286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91440" marR="91440" marT="45720" marB="45720">
                    <a:solidFill>
                      <a:srgbClr val="0B20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Ferramenta</a:t>
                      </a:r>
                    </a:p>
                  </a:txBody>
                  <a:tcPr marL="91440" marR="91440" marT="45720" marB="45720">
                    <a:solidFill>
                      <a:srgbClr val="0B20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 que verifica</a:t>
                      </a:r>
                    </a:p>
                  </a:txBody>
                  <a:tcPr marL="91440" marR="91440" marT="45720" marB="45720">
                    <a:solidFill>
                      <a:srgbClr val="0B20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Quando usar</a:t>
                      </a:r>
                    </a:p>
                  </a:txBody>
                  <a:tcPr marL="91440" marR="91440" marT="45720" marB="45720">
                    <a:solidFill>
                      <a:srgbClr val="0B2037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SAST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njsscan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Código próprio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Desenvolvimento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SCA</a:t>
                      </a:r>
                    </a:p>
                  </a:txBody>
                  <a:tcPr marL="91440" marR="91440" marT="45720" marB="45720">
                    <a:solidFill>
                      <a:srgbClr val="ED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npm audit</a:t>
                      </a:r>
                    </a:p>
                  </a:txBody>
                  <a:tcPr marL="91440" marR="91440" marT="45720" marB="45720">
                    <a:solidFill>
                      <a:srgbClr val="ED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Dependências</a:t>
                      </a:r>
                    </a:p>
                  </a:txBody>
                  <a:tcPr marL="91440" marR="91440" marT="45720" marB="45720">
                    <a:solidFill>
                      <a:srgbClr val="ED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Instalação e build</a:t>
                      </a:r>
                    </a:p>
                  </a:txBody>
                  <a:tcPr marL="91440" marR="91440" marT="45720" marB="45720">
                    <a:solidFill>
                      <a:srgbClr val="EDF6F9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IaC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Datree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Arquivos Kubernetes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Antes do deploy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DAST</a:t>
                      </a:r>
                    </a:p>
                  </a:txBody>
                  <a:tcPr marL="91440" marR="91440" marT="45720" marB="45720">
                    <a:solidFill>
                      <a:srgbClr val="ED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StackHawk</a:t>
                      </a:r>
                    </a:p>
                  </a:txBody>
                  <a:tcPr marL="91440" marR="91440" marT="45720" marB="45720">
                    <a:solidFill>
                      <a:srgbClr val="ED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Aplicação ativa</a:t>
                      </a:r>
                    </a:p>
                  </a:txBody>
                  <a:tcPr marL="91440" marR="91440" marT="45720" marB="45720">
                    <a:solidFill>
                      <a:srgbClr val="ED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Ambiente de teste</a:t>
                      </a:r>
                    </a:p>
                  </a:txBody>
                  <a:tcPr marL="91440" marR="91440" marT="45720" marB="45720">
                    <a:solidFill>
                      <a:srgbClr val="EDF6F9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D5A906-086D-4AD1-ADF4-C60109802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D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C8E8A6-A7FF-42FD-83C6-CB749A13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975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Cada ferramenta verifica uma parte diferente do projeto.</a:t>
            </a:r>
          </a:p>
        </p:txBody>
      </p:sp>
    </p:spTree>
    <p:extLst>
      <p:ext uri="{BB962C8B-B14F-4D97-AF65-F5344CB8AC3E}">
        <p14:creationId xmlns:p14="http://schemas.microsoft.com/office/powerpoint/2010/main" val="16774469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A14052-8C8C-4CFD-AA9A-8AA27B74A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FB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522ECF-5B02-432F-8C18-DCC47CD13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SHIFT-LEFT E SBOM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ACD673-8936-4511-8397-DE1F141AB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Testar cedo e conhecer os componentes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62B3F3-1199-4FDF-8637-371D9C71A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7C578C-A55C-4D1D-8396-85D88279A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526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Shift-left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F0B47D-AB5B-42B6-9321-861886945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43175"/>
            <a:ext cx="4762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Trazer os testes de segurança para o começo do desenvolvimento.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72D277-0B12-4FF7-BE67-24551D2B3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0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7D7742-E68C-4788-AD1E-18DB55DE5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00500"/>
            <a:ext cx="4476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Corrigir antes de entregar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A1C0E7-EAEC-40BE-899B-867611050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86300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88A6EC-7874-4E28-9FD7-128BF6B03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86300"/>
            <a:ext cx="4476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Receber retorno no pipeline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FE3AC3-E940-4FA4-AE34-F29DF920B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526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SBOM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F751F6-D643-46D1-BA00-7CA345CD0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43175"/>
            <a:ext cx="4762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Lista dos componentes e das versões usados pela aplicação.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71FC7A-3F04-413E-9FCC-EA4302FAA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38C673-0802-4EA4-B025-C6E075817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000500"/>
            <a:ext cx="4476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Ajuda a localizar uma biblioteca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3A2B3E-8DD6-4427-B7A8-DB123A750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86300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D99FAA-78B7-47DD-98A2-5F9368EFE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686300"/>
            <a:ext cx="4476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Neste lab: formato CycloneDX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375E80-072C-4F8A-A194-FE84A8AD4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D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A670AB-F1DD-41C3-97FF-325C4E520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975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Testar cedo ajuda, mas os testes em execução continuam necessários.</a:t>
            </a:r>
          </a:p>
        </p:txBody>
      </p:sp>
    </p:spTree>
    <p:extLst>
      <p:ext uri="{BB962C8B-B14F-4D97-AF65-F5344CB8AC3E}">
        <p14:creationId xmlns:p14="http://schemas.microsoft.com/office/powerpoint/2010/main" val="174739046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6D1A346-5CA7-49BE-866B-8F397CB22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FB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2B01A2-3A85-4E24-9D21-1306B34BE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MÉTODO E ESCOPO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A60BDF-1180-4BC8-B803-530CFA1BB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Como organizamos o laboratório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5A3CA4-61C9-4433-BBEB-5093BCF7A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FB3653-89B5-4AA3-B219-449F4F5F9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526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Aplicação própria em Node.js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C1384B-E301-4D83-B5DB-90278421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67000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6782CB-C201-424E-BA95-C15222CE7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67000"/>
            <a:ext cx="457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Falhas escritas de propósito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601DE7-DCEF-4A39-9F9B-FA0F18347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95650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E69B43-4935-4156-87BB-DB1738740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95650"/>
            <a:ext cx="457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Versão insegura e versão corrigida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BD1B72-C770-4088-8537-A3F86E526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24300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BDAC01-ACFF-4D05-A696-80FB26A9B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24300"/>
            <a:ext cx="457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Mesmo ambiente Docker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AFE73D-F381-4A56-8EBD-C0980EA0B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52950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3F5974-90F3-413A-A7B7-E9F0353C2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52950"/>
            <a:ext cx="457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Relatórios guardados no projeto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4B3B43-3B4B-489B-A7C3-B0C7C280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526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O que foi executado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9ED13B-594F-41C6-A1D7-B763E0B78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67000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0CF0CD-C05E-4AA1-9EBE-4D94AB9D7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67000"/>
            <a:ext cx="457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njsscan: SAST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31A084-08AA-41A9-8267-6CE1B7F2D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295650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CEA892-6CF3-483D-9A27-0C061849E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95650"/>
            <a:ext cx="457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npm audit: SCA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2F9F20-4141-4CC4-B084-FBDE87E5B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924300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593366-256D-4F03-A7E5-46252ECA9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924300"/>
            <a:ext cx="457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Datree e StackHawk: pesquisa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61CC64-9EBA-41C6-963F-00C8D1EA7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552950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041463-9FFA-456A-9309-EAA926C56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552950"/>
            <a:ext cx="457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Alvo local, sem testar sites de terceiros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A48C9B-E213-44D7-AAFE-E9486BC16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D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74A4BB-814A-49CB-A224-3F608F534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975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A comparação usa resultados reais das duas versões do laboratório.</a:t>
            </a:r>
          </a:p>
        </p:txBody>
      </p:sp>
    </p:spTree>
    <p:extLst>
      <p:ext uri="{BB962C8B-B14F-4D97-AF65-F5344CB8AC3E}">
        <p14:creationId xmlns:p14="http://schemas.microsoft.com/office/powerpoint/2010/main" val="124844761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9ECE54-A619-4F3D-B4B1-D198E33A7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FB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6D295D-7FB9-40BB-AFAA-1B95DBCD3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SAST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09DA67-BDF8-4B73-8952-476C77FD9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njsscan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D516F7-96A7-42C8-89B4-436B5DDF1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BD2043-9FB2-4693-B4CA-88F993A04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526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Como analisa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815715-803E-4CE8-9196-8079E9D5E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67000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E0625A-F098-40F2-B61B-A31E0193F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6700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Procura padrões perigosos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5A899B-F271-403A-8615-D92A027C5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0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191ACE-C624-43CA-AA27-13BCAA92E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2900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Usa libsast e Semgrep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E610DD-7459-4DEC-B5FB-800E458C0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0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1ADAFC-49FB-4C12-B932-5727C639F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19100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Não precisa iniciar a aplicação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E8D742-9D0C-4A9E-8EFA-22DA83266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526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Uso no laboratório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5A813C-FFC1-40CA-AADA-56CA25DF6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67000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7EC035-4276-4351-9A38-A30ACB1E4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6700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Versão fixada: 1.0.0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E4C7BE-A2C7-491E-8E03-71320A53C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29000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D6BDC9-971E-4E07-BB38-FE62A5FA9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42900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Saídas JSON, SARIF e HTML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A6325E-E0F5-4696-977B-9C91EDDED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191000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9D7336-231D-4ABF-99B5-968D85555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19100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JSON lido pelo gate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5AE490-EFEB-4E61-8A70-CB4B6163E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D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610F67-AC69-4D04-A048-7EA303368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975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Ponto forte: mostra a regra e o trecho do código. Limite: depende das regras.</a:t>
            </a:r>
          </a:p>
        </p:txBody>
      </p:sp>
    </p:spTree>
    <p:extLst>
      <p:ext uri="{BB962C8B-B14F-4D97-AF65-F5344CB8AC3E}">
        <p14:creationId xmlns:p14="http://schemas.microsoft.com/office/powerpoint/2010/main" val="49225202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977DB8-8F87-4190-8B6D-4DF038FE9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FB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719C9E-B7FC-4852-B2C7-1B73FB3BE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RESULTADO REAL DO NJSSCAN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F46ECA-F842-4D4D-B822-E8FC4D4E1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Três alertas no código inseguro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BD1E7C-219F-45D2-8E23-71CA7E848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7198f3355a4afa"/>
          <a:stretch xmlns:a="http://schemas.openxmlformats.org/drawingml/2006/main"/>
        </p:blipFill>
        <p:spPr>
          <a:xfrm xmlns:a="http://schemas.openxmlformats.org/drawingml/2006/main">
            <a:off x="1730829" y="1619250"/>
            <a:ext cx="5148943" cy="41910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558C9A-AC61-45CD-81A4-AB9439593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57375"/>
            <a:ext cx="276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625" b="1">
                <a:solidFill>
                  <a:srgbClr val="E44C70"/>
                </a:solidFill>
                <a:latin typeface="Arial"/>
                <a:ea typeface="Arial"/>
                <a:cs typeface="Arial"/>
              </a:defRPr>
            </a:pPr>
            <a:r>
              <a:rPr sz="5625" b="1">
                <a:solidFill>
                  <a:srgbClr val="E44C7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37B438-1830-4DE0-BA45-D47946E5F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62250"/>
            <a:ext cx="276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575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5758A"/>
                </a:solidFill>
                <a:latin typeface="Arial"/>
                <a:ea typeface="Arial"/>
                <a:cs typeface="Arial"/>
              </a:rPr>
              <a:t>ALERTAS CONFIRMADOS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1964EF-988B-4E87-9831-4CEE23E84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67125"/>
            <a:ext cx="27622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CWE-79 • XSS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CWE-78 • Comando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CWE-95 • eval</a:t>
            </a:r>
          </a:p>
        </p:txBody>
      </p:sp>
    </p:spTree>
    <p:extLst>
      <p:ext uri="{BB962C8B-B14F-4D97-AF65-F5344CB8AC3E}">
        <p14:creationId xmlns:p14="http://schemas.microsoft.com/office/powerpoint/2010/main" val="75885797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5D5DA7-829F-4211-876C-DC0720C92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FB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BC7889-3CC7-4B6D-A43B-88A3C53C2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VERDADEIROS POSITIVOS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1106D4-BBF5-4628-80B7-3CE6FD6FE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Análise dos três achados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A04D63-8275-445B-B178-92AA15077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85800" y="1857375"/>
          <a:ext xmlns:a="http://schemas.openxmlformats.org/drawingml/2006/main" cx="108204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952500"/>
                <a:gridCol w="3667125"/>
                <a:gridCol w="3676650"/>
              </a:tblGrid>
              <a:tr h="785813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Achado</a:t>
                      </a:r>
                    </a:p>
                  </a:txBody>
                  <a:tcPr marL="91440" marR="91440" marT="45720" marB="45720">
                    <a:solidFill>
                      <a:srgbClr val="0B20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CWE</a:t>
                      </a:r>
                    </a:p>
                  </a:txBody>
                  <a:tcPr marL="91440" marR="91440" marT="45720" marB="45720">
                    <a:solidFill>
                      <a:srgbClr val="0B20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Por que é real?</a:t>
                      </a:r>
                    </a:p>
                  </a:txBody>
                  <a:tcPr marL="91440" marR="91440" marT="45720" marB="45720">
                    <a:solidFill>
                      <a:srgbClr val="0B20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Correção</a:t>
                      </a:r>
                    </a:p>
                  </a:txBody>
                  <a:tcPr marL="91440" marR="91440" marT="45720" marB="45720">
                    <a:solidFill>
                      <a:srgbClr val="0B2037"/>
                    </a:solidFill>
                  </a:tcPr>
                </a:tc>
              </a:tr>
              <a:tr h="785813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HTML com entrada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79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Entrada chega ao HTML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Responder texto simples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85813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Comando do usuário</a:t>
                      </a:r>
                    </a:p>
                  </a:txBody>
                  <a:tcPr marL="91440" marR="91440" marT="45720" marB="45720">
                    <a:solidFill>
                      <a:srgbClr val="ED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78</a:t>
                      </a:r>
                    </a:p>
                  </a:txBody>
                  <a:tcPr marL="91440" marR="91440" marT="45720" marB="45720">
                    <a:solidFill>
                      <a:srgbClr val="ED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Entrada chega ao exec</a:t>
                      </a:r>
                    </a:p>
                  </a:txBody>
                  <a:tcPr marL="91440" marR="91440" marT="45720" marB="45720">
                    <a:solidFill>
                      <a:srgbClr val="ED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Retirar o comando</a:t>
                      </a:r>
                    </a:p>
                  </a:txBody>
                  <a:tcPr marL="91440" marR="91440" marT="45720" marB="45720">
                    <a:solidFill>
                      <a:srgbClr val="EDF6F9"/>
                    </a:solidFill>
                  </a:tcPr>
                </a:tc>
              </a:tr>
              <a:tr h="785813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Texto como código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95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Entrada chega ao eval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Somar números validados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87ABF0-5A07-4DB2-ADFC-7DAFDD28C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D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EDAC4A-4124-49BA-85F7-FBB13BFE8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975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Os três alertas foram conferidos no código: 0 falsos positivos nessa amostra.</a:t>
            </a:r>
          </a:p>
        </p:txBody>
      </p:sp>
    </p:spTree>
    <p:extLst>
      <p:ext uri="{BB962C8B-B14F-4D97-AF65-F5344CB8AC3E}">
        <p14:creationId xmlns:p14="http://schemas.microsoft.com/office/powerpoint/2010/main" val="157714940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B76C80-6642-42FD-9AE5-03B1A8777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FB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A8D155-A595-4173-AC7B-60E8D1881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ANTES E DEPOIS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81BB87-E1AC-40CE-845B-69AD5374C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Correção do uso de eval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087A6B-AC46-41E6-836A-B6F57921A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39FC89-6460-4C29-99A0-DB28AC555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E44C7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44C70"/>
                </a:solidFill>
                <a:latin typeface="Arial"/>
                <a:ea typeface="Arial"/>
                <a:cs typeface="Arial"/>
              </a:rPr>
              <a:t>Antes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9D578A-0497-4209-A5D4-5BC707B6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4857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F5"/>
          </a:solidFill>
          <a:ln xmlns:a="http://schemas.openxmlformats.org/drawingml/2006/main" w="9525">
            <a:solidFill>
              <a:srgbClr val="DCE5ED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1B3385-B974-438D-B97E-D366B552B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57475"/>
            <a:ext cx="443865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44C70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44C70"/>
                </a:solidFill>
                <a:latin typeface="Consolas"/>
                <a:ea typeface="Consolas"/>
                <a:cs typeface="Consolas"/>
              </a:rPr>
              <a:t>const resultado =</a:t>
            </a:r>
          </a:p>
          <a:p xmlns:a="http://schemas.openxmlformats.org/drawingml/2006/main">
            <a:pPr>
              <a:defRPr sz="1650" b="0">
                <a:solidFill>
                  <a:srgbClr val="E44C70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44C70"/>
                </a:solidFill>
                <a:latin typeface="Consolas"/>
                <a:ea typeface="Consolas"/>
                <a:cs typeface="Consolas"/>
              </a:rPr>
              <a:t>  eval(req.query.expr);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E44C70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44C70"/>
                </a:solidFill>
                <a:latin typeface="Consolas"/>
                <a:ea typeface="Consolas"/>
                <a:cs typeface="Consolas"/>
              </a:rPr>
              <a:t>res.json({ resultado });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40FF57-6561-4DCC-B498-700148173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0975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0A57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A572"/>
                </a:solidFill>
                <a:latin typeface="Arial"/>
                <a:ea typeface="Arial"/>
                <a:cs typeface="Arial"/>
              </a:rPr>
              <a:t>Depois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7A5B07-F908-47C3-BAC7-ECD3C87A3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28875"/>
            <a:ext cx="4857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AF5"/>
          </a:solidFill>
          <a:ln xmlns:a="http://schemas.openxmlformats.org/drawingml/2006/main" w="9525">
            <a:solidFill>
              <a:srgbClr val="DCE5ED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2B74DF-D805-4BD3-AEB4-70C78A9A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657475"/>
            <a:ext cx="443865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0B2037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0B2037"/>
                </a:solidFill>
                <a:latin typeface="Consolas"/>
                <a:ea typeface="Consolas"/>
                <a:cs typeface="Consolas"/>
              </a:rPr>
              <a:t>const a = Number(req.query.a);</a:t>
            </a:r>
          </a:p>
          <a:p xmlns:a="http://schemas.openxmlformats.org/drawingml/2006/main">
            <a:pPr>
              <a:defRPr sz="1650" b="0">
                <a:solidFill>
                  <a:srgbClr val="0B2037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0B2037"/>
                </a:solidFill>
                <a:latin typeface="Consolas"/>
                <a:ea typeface="Consolas"/>
                <a:cs typeface="Consolas"/>
              </a:rPr>
              <a:t>const b = Number(req.query.b);</a:t>
            </a:r>
          </a:p>
          <a:p xmlns:a="http://schemas.openxmlformats.org/drawingml/2006/main">
            <a:pPr>
              <a:defRPr sz="1650" b="0">
                <a:solidFill>
                  <a:srgbClr val="0B2037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0B2037"/>
                </a:solidFill>
                <a:latin typeface="Consolas"/>
                <a:ea typeface="Consolas"/>
                <a:cs typeface="Consolas"/>
              </a:rPr>
              <a:t>// Validar os números antes</a:t>
            </a:r>
          </a:p>
          <a:p xmlns:a="http://schemas.openxmlformats.org/drawingml/2006/main">
            <a:pPr>
              <a:defRPr sz="1650" b="0">
                <a:solidFill>
                  <a:srgbClr val="0B2037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0B2037"/>
                </a:solidFill>
                <a:latin typeface="Consolas"/>
                <a:ea typeface="Consolas"/>
                <a:cs typeface="Consolas"/>
              </a:rPr>
              <a:t>res.json({ resultado: a + b });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BE17D3-3744-4AC5-BBF9-E140689D3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D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48E4EC-C95C-4EFB-8358-048197244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975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O cálculo passa a aceitar números, sem executar um programa enviado pelo usuário.</a:t>
            </a:r>
          </a:p>
        </p:txBody>
      </p:sp>
    </p:spTree>
    <p:extLst>
      <p:ext uri="{BB962C8B-B14F-4D97-AF65-F5344CB8AC3E}">
        <p14:creationId xmlns:p14="http://schemas.microsoft.com/office/powerpoint/2010/main" val="69034053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49D1A1-F4F4-4E6B-A8C9-5FC39A4B5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FB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A7E1A9-519E-4099-B12B-1525C071C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MUDANÇAS NO CÓDIGO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34B52D-E870-411C-8CB8-EF18DB56F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Correções de XSS e comando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464D43-A785-41BA-A749-BF8A8F2F2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A8DBC3-BFDA-4B27-9787-B8F91433F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XSS: responder texto simples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32E8DD-C8F3-4538-A229-BE625BD5D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4857750" cy="1857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A"/>
          </a:solidFill>
          <a:ln xmlns:a="http://schemas.openxmlformats.org/drawingml/2006/main" w="9525">
            <a:solidFill>
              <a:srgbClr val="DCE5ED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82909B-D6C9-4947-BDF5-6DBA93A08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57475"/>
            <a:ext cx="4438650" cy="1457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0B2037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0B2037"/>
                </a:solidFill>
                <a:latin typeface="Consolas"/>
                <a:ea typeface="Consolas"/>
                <a:cs typeface="Consolas"/>
              </a:rPr>
              <a:t>// Depois da correção</a:t>
            </a:r>
          </a:p>
          <a:p xmlns:a="http://schemas.openxmlformats.org/drawingml/2006/main">
            <a:pPr>
              <a:defRPr sz="1650" b="0">
                <a:solidFill>
                  <a:srgbClr val="0B2037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0B2037"/>
                </a:solidFill>
                <a:latin typeface="Consolas"/>
                <a:ea typeface="Consolas"/>
                <a:cs typeface="Consolas"/>
              </a:rPr>
              <a:t>res.type('text/plain')</a:t>
            </a:r>
          </a:p>
          <a:p xmlns:a="http://schemas.openxmlformats.org/drawingml/2006/main">
            <a:pPr>
              <a:defRPr sz="1650" b="0">
                <a:solidFill>
                  <a:srgbClr val="0B2037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0B2037"/>
                </a:solidFill>
                <a:latin typeface="Consolas"/>
                <a:ea typeface="Consolas"/>
                <a:cs typeface="Consolas"/>
              </a:rPr>
              <a:t>  .send('Olá, ' + nome);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5FCA7F-4874-4859-BACC-86F231F93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00575"/>
            <a:ext cx="4857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O navegador recebe texto e não interpreta a entrada como HTML.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8DF653-9090-4162-8B77-40491A0CB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0975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Comando: retirar a execução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9F4E71-863E-4765-841A-5A001119C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28875"/>
            <a:ext cx="4857750" cy="1857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A"/>
          </a:solidFill>
          <a:ln xmlns:a="http://schemas.openxmlformats.org/drawingml/2006/main" w="9525">
            <a:solidFill>
              <a:srgbClr val="DCE5ED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76C269-C1EC-4BC0-9ED5-65EF1FDB5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657475"/>
            <a:ext cx="4438650" cy="1457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0B2037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0B2037"/>
                </a:solidFill>
                <a:latin typeface="Consolas"/>
                <a:ea typeface="Consolas"/>
                <a:cs typeface="Consolas"/>
              </a:rPr>
              <a:t>// Depois da correção</a:t>
            </a:r>
          </a:p>
          <a:p xmlns:a="http://schemas.openxmlformats.org/drawingml/2006/main">
            <a:pPr>
              <a:defRPr sz="1650" b="0">
                <a:solidFill>
                  <a:srgbClr val="0B2037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0B2037"/>
                </a:solidFill>
                <a:latin typeface="Consolas"/>
                <a:ea typeface="Consolas"/>
                <a:cs typeface="Consolas"/>
              </a:rPr>
              <a:t>res.json({</a:t>
            </a:r>
          </a:p>
          <a:p xmlns:a="http://schemas.openxmlformats.org/drawingml/2006/main">
            <a:pPr>
              <a:defRPr sz="1650" b="0">
                <a:solidFill>
                  <a:srgbClr val="0B2037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0B2037"/>
                </a:solidFill>
                <a:latin typeface="Consolas"/>
                <a:ea typeface="Consolas"/>
                <a:cs typeface="Consolas"/>
              </a:rPr>
              <a:t>  mensagem: 'Laboratório do grupo 3'</a:t>
            </a:r>
          </a:p>
          <a:p xmlns:a="http://schemas.openxmlformats.org/drawingml/2006/main">
            <a:pPr>
              <a:defRPr sz="1650" b="0">
                <a:solidFill>
                  <a:srgbClr val="0B2037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0B2037"/>
                </a:solidFill>
                <a:latin typeface="Consolas"/>
                <a:ea typeface="Consolas"/>
                <a:cs typeface="Consolas"/>
              </a:rPr>
              <a:t>});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0ACFD9-0716-41D1-B7FB-AABA2E8D2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00575"/>
            <a:ext cx="4857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A rota passa a responder uma mensagem fixa, sem chamar exec.</a:t>
            </a:r>
          </a:p>
        </p:txBody>
      </p:sp>
    </p:spTree>
    <p:extLst>
      <p:ext uri="{BB962C8B-B14F-4D97-AF65-F5344CB8AC3E}">
        <p14:creationId xmlns:p14="http://schemas.microsoft.com/office/powerpoint/2010/main" val="11531645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3124C6-C4FA-42B7-AE17-9560F1D3F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FB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FE3A24-9393-47FC-8D2D-8B6A88396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SCA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DB3A8B-E159-48C4-8038-D4FDACA7A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npm audit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233457-8B32-406E-9539-47EAF1EB6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D4F955-5C2D-4472-A8FA-AAD1E3C8B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526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Como analisa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AA4915-5956-4CD2-A1B7-EC4F623D0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67000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72689A-99DD-4492-8440-CD6489256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6700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Lê as dependências do lockfile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47AB15-F50A-4432-B2AE-3A9EEE488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0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7D68A5-E2EB-42E3-AC43-4F1987C51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2900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Consulta avisos conhecidos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53AF3C-2406-4E87-A57C-BBBC66F6C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0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58F07B-A1D2-4BDD-87E1-0DCA948AA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19100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Classifica a severidade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3CCDDE-006D-4D1B-8DFB-52CE42A8F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526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Uso no pipeline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8114D1-5FEE-48E5-A4F7-5B33B3E47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67000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0BD9CC-BE16-4E2D-AE04-DA94123D3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6700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Instalar as dependências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4F0DB3-57E0-4B85-A006-7C73F1DA8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29000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149CCC-1382-4F93-8543-C0C5531DB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42900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Executar npm audit --json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AA0B12-BABA-4113-9177-C6807E3AC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191000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6B5AAB-1904-4F24-8542-F032016BC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19100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Bloquear HIGH e CRITICAL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1DB7B9-7D8A-4A85-B9E5-614D95EC0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D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A93827-436E-4663-8133-325F1D99B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975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Ponto forte: já faz parte do npm. Limite: depende dos avisos publicados.</a:t>
            </a:r>
          </a:p>
        </p:txBody>
      </p:sp>
    </p:spTree>
    <p:extLst>
      <p:ext uri="{BB962C8B-B14F-4D97-AF65-F5344CB8AC3E}">
        <p14:creationId xmlns:p14="http://schemas.microsoft.com/office/powerpoint/2010/main" val="209950710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FCF978-6F01-43ED-969F-6E8ABF95B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FB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FFF9D0-3F36-41AA-8B21-D2EB7C55D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NPM AUDIT: VERSÃO INSEGURA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CCB87E-179A-4BB9-B1A7-BF639C2BE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Dependência vulnerável encontrada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1B1710-51A0-4716-A4D7-1B7A4F573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7b40ae84e14dd0"/>
          <a:stretch xmlns:a="http://schemas.openxmlformats.org/drawingml/2006/main"/>
        </p:blipFill>
        <p:spPr>
          <a:xfrm xmlns:a="http://schemas.openxmlformats.org/drawingml/2006/main">
            <a:off x="685800" y="1825894"/>
            <a:ext cx="7429500" cy="3777712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C9EFC0-74EE-4FB8-BCF5-71C5F913F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00025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625" b="1">
                <a:solidFill>
                  <a:srgbClr val="E44C70"/>
                </a:solidFill>
                <a:latin typeface="Arial"/>
                <a:ea typeface="Arial"/>
                <a:cs typeface="Arial"/>
              </a:defRPr>
            </a:pPr>
            <a:r>
              <a:rPr sz="5625" b="1">
                <a:solidFill>
                  <a:srgbClr val="E44C70"/>
                </a:solidFill>
                <a:latin typeface="Arial"/>
                <a:ea typeface="Arial"/>
                <a:cs typeface="Arial"/>
              </a:rPr>
              <a:t>1 HIGH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9D66B4-3AA9-445B-9035-7FD822790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905125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575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5758A"/>
                </a:solidFill>
                <a:latin typeface="Arial"/>
                <a:ea typeface="Arial"/>
                <a:cs typeface="Arial"/>
              </a:rPr>
              <a:t>PACOTE VULNERÁVEL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D88832-8ABB-4741-9BE1-E75239C1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762375"/>
            <a:ext cx="28575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lodash 4.17.15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O pacote aparece em vários avisos. A contagem do resumo é por pacote.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9D2B01-613B-42E7-915C-311907D06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626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D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00A9E1-8224-47E5-A46B-823BC0550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953125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A versão vulnerável foi confirmada; exploração pela rota exige outra análise.</a:t>
            </a:r>
          </a:p>
        </p:txBody>
      </p:sp>
    </p:spTree>
    <p:extLst>
      <p:ext uri="{BB962C8B-B14F-4D97-AF65-F5344CB8AC3E}">
        <p14:creationId xmlns:p14="http://schemas.microsoft.com/office/powerpoint/2010/main" val="95945946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8B0C9F-8613-49C2-8DFB-1204E51ED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FB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55946C-5E98-4E27-9B19-85B51FD06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NPM AUDIT: VERSÃO CORRIGIDA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CAE373-DFE2-4A5F-9658-41E4CD1C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Dependência atualizada e novo teste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46F153-E575-4E07-A951-BEBC683E4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03C407-6FF7-468F-B962-DDB405936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0500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Atualização da biblioteca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73C5D2-46ED-445D-8901-4B747B6F3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33650"/>
            <a:ext cx="4191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E44C70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E44C70"/>
                </a:solidFill>
                <a:latin typeface="Arial"/>
                <a:ea typeface="Arial"/>
                <a:cs typeface="Arial"/>
              </a:rPr>
              <a:t>4.17.15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9773A0-FAA8-4ED5-ACAD-DC8E46361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9090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5758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5758A"/>
                </a:solidFill>
                <a:latin typeface="Arial"/>
                <a:ea typeface="Arial"/>
                <a:cs typeface="Arial"/>
              </a:rPr>
              <a:t>versão insegura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7748F6-CC72-415B-A98B-A6DF5AF6B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48125"/>
            <a:ext cx="4191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20A572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20A572"/>
                </a:solidFill>
                <a:latin typeface="Arial"/>
                <a:ea typeface="Arial"/>
                <a:cs typeface="Arial"/>
              </a:rPr>
              <a:t>4.18.1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1C0CC5-CEDD-4346-9636-39DD7100B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05375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5758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5758A"/>
                </a:solidFill>
                <a:latin typeface="Arial"/>
                <a:ea typeface="Arial"/>
                <a:cs typeface="Arial"/>
              </a:rPr>
              <a:t>versão corrigida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3e3298681e46d8"/>
          <a:stretch xmlns:a="http://schemas.openxmlformats.org/drawingml/2006/main"/>
        </p:blipFill>
        <p:spPr>
          <a:xfrm xmlns:a="http://schemas.openxmlformats.org/drawingml/2006/main">
            <a:off x="5524500" y="2651241"/>
            <a:ext cx="5905500" cy="1365018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23F1E1-423F-45C1-96FE-D6C11B8F9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667250"/>
            <a:ext cx="523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625" b="1">
                <a:solidFill>
                  <a:srgbClr val="20A572"/>
                </a:solidFill>
                <a:latin typeface="Arial"/>
                <a:ea typeface="Arial"/>
                <a:cs typeface="Arial"/>
              </a:defRPr>
            </a:pPr>
            <a:r>
              <a:rPr sz="5625" b="1">
                <a:solidFill>
                  <a:srgbClr val="20A572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D3BA8A-899A-4E95-9329-27E77C9B4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572125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575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5758A"/>
                </a:solidFill>
                <a:latin typeface="Arial"/>
                <a:ea typeface="Arial"/>
                <a:cs typeface="Arial"/>
              </a:rPr>
              <a:t>VULNERABILIDADES CONHECIDAS</a:t>
            </a:r>
          </a:p>
        </p:txBody>
      </p:sp>
    </p:spTree>
    <p:extLst>
      <p:ext uri="{BB962C8B-B14F-4D97-AF65-F5344CB8AC3E}">
        <p14:creationId xmlns:p14="http://schemas.microsoft.com/office/powerpoint/2010/main" val="98244479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3FF908-1D74-49E9-AC09-E772858CB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FB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C0F199-08D3-4F88-84E8-11E302706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SEGURANÇA DE IAC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A3075F-12F0-456C-83F6-535C0E2D1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Datree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AF1ECC-5EFF-4DE1-9335-98EB19B51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7B5597-41A8-4DE4-A3CD-0B2763AB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526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C6852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C68523"/>
                </a:solidFill>
                <a:latin typeface="Arial"/>
                <a:ea typeface="Arial"/>
                <a:cs typeface="Arial"/>
              </a:rPr>
              <a:t>O que fazia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95AE9B-3E47-4457-9E02-55EA0135B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67000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FD5868-52D9-4DD4-AF2F-1E2131EEB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6700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Analisava YAML de Kubernetes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8C61B8-14CD-4AB6-BCB8-9CC18094C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0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88A2D5-F928-4447-9D87-3C25716E6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2900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Aplicava regras de política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D238D9-5A76-49AB-B338-BC3796F0A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0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C9C7F6-B714-439C-94B0-B7CBCF57E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19100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Rodava antes do deploy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300A1B-AF48-4D9F-A449-4B3D02189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526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C6852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C68523"/>
                </a:solidFill>
                <a:latin typeface="Arial"/>
                <a:ea typeface="Arial"/>
                <a:cs typeface="Arial"/>
              </a:rPr>
              <a:t>Situação do projeto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77FCCB-F88C-48B1-92D6-333ACB2FA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67000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1A0B6D-1087-4822-88D4-C2E11BF9B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6700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Projeto arquivado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5AAD34-65E3-46CA-B430-DC9BF9D95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29000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3957FD-3107-4763-9663-F86697FBB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42900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Sem manutenção contínua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AEBA14-F2D6-4091-A643-2332FD13F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191000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E1E70C-919E-4089-8FE8-3FCFE69D2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19100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Pesquisado, mas não executado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70BC73-0E49-413C-8EE5-D893E28C6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D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78E581-C1DA-4915-B031-0F9FBB859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975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Serve para estudo; um projeto novo deve avaliar ferramentas mantidas.</a:t>
            </a:r>
          </a:p>
        </p:txBody>
      </p:sp>
    </p:spTree>
    <p:extLst>
      <p:ext uri="{BB962C8B-B14F-4D97-AF65-F5344CB8AC3E}">
        <p14:creationId xmlns:p14="http://schemas.microsoft.com/office/powerpoint/2010/main" val="69232622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0A1959-FA6D-4040-9159-14F19BD77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FB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ED522A-D6E2-4550-9E51-8D27EA9EF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EXEMPLO DE IAC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120FE3-C429-4B1A-B4FF-C06E10A99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Configuração Kubernetes mais segura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F31B78-137A-4187-A4D7-B3A20080C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E1B6D4-8EAE-45BD-85B5-13A3A9785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E44C7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44C70"/>
                </a:solidFill>
                <a:latin typeface="Arial"/>
                <a:ea typeface="Arial"/>
                <a:cs typeface="Arial"/>
              </a:rPr>
              <a:t>Antes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2718EE-A312-4BD1-A7CA-746BE5BFE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48577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F5"/>
          </a:solidFill>
          <a:ln xmlns:a="http://schemas.openxmlformats.org/drawingml/2006/main" w="9525">
            <a:solidFill>
              <a:srgbClr val="DCE5ED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24473A-C1EF-4E67-9679-AB2CF0F68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57475"/>
            <a:ext cx="443865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44C70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44C70"/>
                </a:solidFill>
                <a:latin typeface="Consolas"/>
                <a:ea typeface="Consolas"/>
                <a:cs typeface="Consolas"/>
              </a:rPr>
              <a:t>securityContext:</a:t>
            </a:r>
          </a:p>
          <a:p xmlns:a="http://schemas.openxmlformats.org/drawingml/2006/main">
            <a:pPr>
              <a:defRPr sz="1650" b="0">
                <a:solidFill>
                  <a:srgbClr val="E44C70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44C70"/>
                </a:solidFill>
                <a:latin typeface="Consolas"/>
                <a:ea typeface="Consolas"/>
                <a:cs typeface="Consolas"/>
              </a:rPr>
              <a:t>  privileged: true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E44C70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44C70"/>
                </a:solidFill>
                <a:latin typeface="Consolas"/>
                <a:ea typeface="Consolas"/>
                <a:cs typeface="Consolas"/>
              </a:rPr>
              <a:t># Sem limites de recursos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DB7900-EB11-4760-B72D-E83BFBA0F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0975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0A57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A572"/>
                </a:solidFill>
                <a:latin typeface="Arial"/>
                <a:ea typeface="Arial"/>
                <a:cs typeface="Arial"/>
              </a:rPr>
              <a:t>Depois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99D260-0FF1-4F1F-8606-14DB0CCAF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28875"/>
            <a:ext cx="48577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AF5"/>
          </a:solidFill>
          <a:ln xmlns:a="http://schemas.openxmlformats.org/drawingml/2006/main" w="9525">
            <a:solidFill>
              <a:srgbClr val="DCE5ED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D16DEB-1C87-4BA5-B7BD-A21927926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657475"/>
            <a:ext cx="443865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0B2037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0B2037"/>
                </a:solidFill>
                <a:latin typeface="Consolas"/>
                <a:ea typeface="Consolas"/>
                <a:cs typeface="Consolas"/>
              </a:rPr>
              <a:t>securityContext:</a:t>
            </a:r>
          </a:p>
          <a:p xmlns:a="http://schemas.openxmlformats.org/drawingml/2006/main">
            <a:pPr>
              <a:defRPr sz="1650" b="0">
                <a:solidFill>
                  <a:srgbClr val="0B2037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0B2037"/>
                </a:solidFill>
                <a:latin typeface="Consolas"/>
                <a:ea typeface="Consolas"/>
                <a:cs typeface="Consolas"/>
              </a:rPr>
              <a:t>  privileged: false</a:t>
            </a:r>
          </a:p>
          <a:p xmlns:a="http://schemas.openxmlformats.org/drawingml/2006/main">
            <a:pPr>
              <a:defRPr sz="1650" b="0">
                <a:solidFill>
                  <a:srgbClr val="0B2037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0B2037"/>
                </a:solidFill>
                <a:latin typeface="Consolas"/>
                <a:ea typeface="Consolas"/>
                <a:cs typeface="Consolas"/>
              </a:rPr>
              <a:t>  readOnlyRootFilesystem: true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0B2037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0B2037"/>
                </a:solidFill>
                <a:latin typeface="Consolas"/>
                <a:ea typeface="Consolas"/>
                <a:cs typeface="Consolas"/>
              </a:rPr>
              <a:t># Recursos com limites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0E26A5-1B92-4A86-9C65-083663C53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D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313A10-30E6-4AFA-B89A-AD0EAC61A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975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O arquivo corrigido reduz privilégios e define limites. Não houve scan do Datree.</a:t>
            </a:r>
          </a:p>
        </p:txBody>
      </p:sp>
    </p:spTree>
    <p:extLst>
      <p:ext uri="{BB962C8B-B14F-4D97-AF65-F5344CB8AC3E}">
        <p14:creationId xmlns:p14="http://schemas.microsoft.com/office/powerpoint/2010/main" val="99181320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C331B7-07E3-4543-9EA2-0683A94B4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FB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82E80C-0036-4C15-98CD-BDFB97250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DAST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07287F-21B1-47C0-8BD6-C4166CBF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StackHawk e HawkScan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E32D12-4F59-4A5A-9C63-3A70E8070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C8FB67-57B9-4333-9CD7-8C088C5F0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526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E44C7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44C70"/>
                </a:solidFill>
                <a:latin typeface="Arial"/>
                <a:ea typeface="Arial"/>
                <a:cs typeface="Arial"/>
              </a:rPr>
              <a:t>Como funciona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6152F3-49EA-45F4-84D4-E334A562F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67000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9084DA-6659-4ECD-8CC2-25BD5E4A7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6700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Testa a aplicação funcionando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05F1FC-0DF9-4937-9FC5-A4DDC2045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0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B8D571-B42E-46A5-A8A8-EFDC82DEE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2900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Envia requisições para as rotas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6B6A76-084E-4B37-84EA-497DAB628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0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4B453F-8632-44F2-88FF-EEB63BDD7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19100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Observa as respostas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556561-F610-4A51-87B7-A115BE5E9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526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E44C7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44C70"/>
                </a:solidFill>
                <a:latin typeface="Arial"/>
                <a:ea typeface="Arial"/>
                <a:cs typeface="Arial"/>
              </a:rPr>
              <a:t>O que precisa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72CA12-5431-4942-86E1-0778D3A44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67000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B6DB80-E5EA-4332-A724-29148069C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6700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Endereço autorizado do alvo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986D59-9374-45D7-A404-E9969EF4C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29000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327A7C-BDE4-4555-8793-627D8F149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42900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Ambiente de teste disponível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4BBB87-461D-4A8F-ABD0-E808FAEA5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191000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AB276D-7547-482F-8F36-66356ED61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19100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Login configurado, se necessário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49396B-9291-4352-A788-75FBD275D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D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404223-C671-469A-9629-6642FCF1E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975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A plataforma possui partes comerciais. Foi pesquisada, mas não executada.</a:t>
            </a:r>
          </a:p>
        </p:txBody>
      </p:sp>
    </p:spTree>
    <p:extLst>
      <p:ext uri="{BB962C8B-B14F-4D97-AF65-F5344CB8AC3E}">
        <p14:creationId xmlns:p14="http://schemas.microsoft.com/office/powerpoint/2010/main" val="125714179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078C27-0C4E-4C9A-A92E-06FA19D80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FB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CA9A92-6FFE-4730-A29F-81D08F36A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TESTE DA APLICAÇÃO EM EXECUÇÃO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3DA466-33E8-4093-85CD-396AEAEE9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Etapas de um teste DAST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A39417-0942-438C-83A9-A9CCC754B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5986DD-F933-4B3C-B6F1-9AF2A417D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2047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666FC8-F72A-4B4A-AFE9-5769B6052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2047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Iniciar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9B1023-FC2D-4931-BEEA-CBC073A04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48125"/>
            <a:ext cx="190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Aplicação de teste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F7B615-BD32-452E-A865-1863FCC7F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095500"/>
            <a:ext cx="2047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9B56A3-E05B-46C8-8DAD-4F9E79A37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33750"/>
            <a:ext cx="2047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Configurar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BF3D11-BF57-4FC8-B9AB-EC120658E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048125"/>
            <a:ext cx="190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Endereço permitido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E92B35-7A59-438B-8647-E3CFDD96E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095500"/>
            <a:ext cx="2047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9DEA1A-CF33-43C6-882B-1916AA16D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333750"/>
            <a:ext cx="2047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Executar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5ADBC1-A168-4192-83EE-A78C757DB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048125"/>
            <a:ext cx="190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Scanner e rotas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47B924-F9CC-4934-807B-69B2354DA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095500"/>
            <a:ext cx="2047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D0EB21-F379-4E6B-9A54-020AA23C8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33750"/>
            <a:ext cx="2047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Revisar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B02403-05A4-4B35-B36F-427354143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048125"/>
            <a:ext cx="190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Alertas e contexto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6EF4E6-4567-4409-91A2-2420A33E3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095500"/>
            <a:ext cx="2047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20A572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20A572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9173BE-52AA-4A47-B50C-AF8E4C1AC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33750"/>
            <a:ext cx="2047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Repetir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29EF61-758A-484E-9531-830E35DE8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048125"/>
            <a:ext cx="190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Depois das correções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709D7E-0584-4B09-ADE7-57ED8FB63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D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20924F-7112-4552-A28E-468FF3D2D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975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Sem acesso às rotas protegidas, o scanner pode testar apenas a tela de login.</a:t>
            </a:r>
          </a:p>
        </p:txBody>
      </p:sp>
    </p:spTree>
    <p:extLst>
      <p:ext uri="{BB962C8B-B14F-4D97-AF65-F5344CB8AC3E}">
        <p14:creationId xmlns:p14="http://schemas.microsoft.com/office/powerpoint/2010/main" val="221155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00308F-5095-447F-B46E-F60AF6AB5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FB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712DA2-C848-48F7-BD4C-CA7B46985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AMBIENTE REAL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2D4CAF-F221-48D5-A9E5-5BEAE78F5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Imagem preparada no Docker Desktop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70586E-CDFB-4ECE-9DC8-CCC062177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f91396af6d4aec"/>
          <a:stretch xmlns:a="http://schemas.openxmlformats.org/drawingml/2006/main"/>
        </p:blipFill>
        <p:spPr>
          <a:xfrm xmlns:a="http://schemas.openxmlformats.org/drawingml/2006/main">
            <a:off x="1021138" y="1714500"/>
            <a:ext cx="7235075" cy="4095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C8E679-B563-4E0A-BA50-254F73469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905000"/>
            <a:ext cx="2428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Uma imagem para os dois testes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A46DA9-4547-43E5-89A4-0C3C94F70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762250"/>
            <a:ext cx="24765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Node.js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Python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njsscan e Semgrep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npm</a:t>
            </a:r>
          </a:p>
        </p:txBody>
      </p:sp>
    </p:spTree>
    <p:extLst>
      <p:ext uri="{BB962C8B-B14F-4D97-AF65-F5344CB8AC3E}">
        <p14:creationId xmlns:p14="http://schemas.microsoft.com/office/powerpoint/2010/main" val="127079833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20B5A4-EFD0-4688-945A-7EFFE4CE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FB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32516E-FB0E-4C52-BC1E-47BEC5E62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DOCKER E WSL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4F6555-92F5-40E4-B026-27F8F2826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Versões e imagem do laboratório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76FFED-2609-4BB3-9293-82E7ED358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1162222aff486d"/>
          <a:stretch xmlns:a="http://schemas.openxmlformats.org/drawingml/2006/main"/>
        </p:blipFill>
        <p:spPr>
          <a:xfrm xmlns:a="http://schemas.openxmlformats.org/drawingml/2006/main">
            <a:off x="685800" y="1936339"/>
            <a:ext cx="7620000" cy="3652073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7A7529-B309-458B-B422-E370B9370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90750"/>
            <a:ext cx="27622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Docker Desktop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Compose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WSL 2 / Ubuntu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cp01-grupo3:1.0</a:t>
            </a:r>
          </a:p>
        </p:txBody>
      </p:sp>
    </p:spTree>
    <p:extLst>
      <p:ext uri="{BB962C8B-B14F-4D97-AF65-F5344CB8AC3E}">
        <p14:creationId xmlns:p14="http://schemas.microsoft.com/office/powerpoint/2010/main" val="107046832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9A3DA2-4EB5-4773-BD28-D8F2553CF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FB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BB278B-B23C-4CCC-B73D-5A4E766F9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POLÍTICA DO GRUPO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A6E8BF-87BB-400F-A24E-8577F9E6A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Quando o gate bloqueia a entrega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B44D1C-EAAD-496E-A67B-AE2D878F5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85800" y="1809750"/>
          <a:ext xmlns:a="http://schemas.openxmlformats.org/drawingml/2006/main" cx="108204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62375"/>
                <a:gridCol w="5238750"/>
                <a:gridCol w="1819275"/>
              </a:tblGrid>
              <a:tr h="6286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Resultado</a:t>
                      </a:r>
                    </a:p>
                  </a:txBody>
                  <a:tcPr marL="91440" marR="91440" marT="45720" marB="45720">
                    <a:solidFill>
                      <a:srgbClr val="0B20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Decisão</a:t>
                      </a:r>
                    </a:p>
                  </a:txBody>
                  <a:tcPr marL="91440" marR="91440" marT="45720" marB="45720">
                    <a:solidFill>
                      <a:srgbClr val="0B20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Código de saída</a:t>
                      </a:r>
                    </a:p>
                  </a:txBody>
                  <a:tcPr marL="91440" marR="91440" marT="45720" marB="45720">
                    <a:solidFill>
                      <a:srgbClr val="0B2037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SAST ERROR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Tratar como HIGH e bloquear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SCA HIGH ou CRITICAL</a:t>
                      </a:r>
                    </a:p>
                  </a:txBody>
                  <a:tcPr marL="91440" marR="91440" marT="45720" marB="45720">
                    <a:solidFill>
                      <a:srgbClr val="ED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Bloquear</a:t>
                      </a:r>
                    </a:p>
                  </a:txBody>
                  <a:tcPr marL="91440" marR="91440" marT="45720" marB="45720">
                    <a:solidFill>
                      <a:srgbClr val="ED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EDF6F9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Sem alertas nesses níveis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Aprovar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Erro ou relatório inválido</a:t>
                      </a:r>
                    </a:p>
                  </a:txBody>
                  <a:tcPr marL="91440" marR="91440" marT="45720" marB="45720">
                    <a:solidFill>
                      <a:srgbClr val="ED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Interromper a análise</a:t>
                      </a:r>
                    </a:p>
                  </a:txBody>
                  <a:tcPr marL="91440" marR="91440" marT="45720" marB="45720">
                    <a:solidFill>
                      <a:srgbClr val="ED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EDF6F9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9D2F2E-23EC-4485-A75B-46CDDCAA0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D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87F7DE-2624-4C5E-A744-291B2BCAF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975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A política está no script: o pipeline usa o código de saída para decidir.</a:t>
            </a:r>
          </a:p>
        </p:txBody>
      </p:sp>
    </p:spTree>
    <p:extLst>
      <p:ext uri="{BB962C8B-B14F-4D97-AF65-F5344CB8AC3E}">
        <p14:creationId xmlns:p14="http://schemas.microsoft.com/office/powerpoint/2010/main" val="124181772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E29DB8-3343-4B42-B93E-F67D8D876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FB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2D302E-A2B1-4221-AE18-7D4D29061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EXECUÇÃO REAL NO DOCKER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E223FC-01A7-4B78-9923-934ADE868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Versão insegura: gate bloqueado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23A77D-1AD5-4D74-B0D7-3921C83F8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eb704e90024817"/>
          <a:stretch xmlns:a="http://schemas.openxmlformats.org/drawingml/2006/main"/>
        </p:blipFill>
        <p:spPr>
          <a:xfrm xmlns:a="http://schemas.openxmlformats.org/drawingml/2006/main">
            <a:off x="1078230" y="1666875"/>
            <a:ext cx="6644640" cy="41910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84E108-40B5-46FD-B6F9-05AF1EDF0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809750"/>
            <a:ext cx="2381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625" b="1">
                <a:solidFill>
                  <a:srgbClr val="E44C70"/>
                </a:solidFill>
                <a:latin typeface="Arial"/>
                <a:ea typeface="Arial"/>
                <a:cs typeface="Arial"/>
              </a:defRPr>
            </a:pPr>
            <a:r>
              <a:rPr sz="5625" b="1">
                <a:solidFill>
                  <a:srgbClr val="E44C7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F6DC6C-1131-4C09-A8CB-544873E1D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71462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575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5758A"/>
                </a:solidFill>
                <a:latin typeface="Arial"/>
                <a:ea typeface="Arial"/>
                <a:cs typeface="Arial"/>
              </a:rPr>
              <a:t>ALERTAS SAST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C0C41B-92FD-4A4B-8CC8-B87E903A0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62375"/>
            <a:ext cx="2381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625" b="1">
                <a:solidFill>
                  <a:srgbClr val="E44C70"/>
                </a:solidFill>
                <a:latin typeface="Arial"/>
                <a:ea typeface="Arial"/>
                <a:cs typeface="Arial"/>
              </a:defRPr>
            </a:pPr>
            <a:r>
              <a:rPr sz="5625" b="1">
                <a:solidFill>
                  <a:srgbClr val="E44C7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793EC4-B37A-4395-A05E-EFB8CBC13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672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575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5758A"/>
                </a:solidFill>
                <a:latin typeface="Arial"/>
                <a:ea typeface="Arial"/>
                <a:cs typeface="Arial"/>
              </a:rPr>
              <a:t>PACOTE HIGH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663C29-7CE8-4C61-84AC-8D8A3846A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572125"/>
            <a:ext cx="257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E44C7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44C70"/>
                </a:solidFill>
                <a:latin typeface="Arial"/>
                <a:ea typeface="Arial"/>
                <a:cs typeface="Arial"/>
              </a:rPr>
              <a:t>Código de saída: 1</a:t>
            </a:r>
          </a:p>
        </p:txBody>
      </p:sp>
    </p:spTree>
    <p:extLst>
      <p:ext uri="{BB962C8B-B14F-4D97-AF65-F5344CB8AC3E}">
        <p14:creationId xmlns:p14="http://schemas.microsoft.com/office/powerpoint/2010/main" val="69025682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642233-DE94-4EA1-9398-62080B0BB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FB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E9226D-6D2C-4F6E-9F4E-3170372CF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EXECUÇÃO REAL NO DOCKER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0F5721-DA2F-4787-AD9D-FDECEFE01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Versão corrigida: gate aprovado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106D2E-FE21-4492-977B-EFF44931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34a191341a4568"/>
          <a:stretch xmlns:a="http://schemas.openxmlformats.org/drawingml/2006/main"/>
        </p:blipFill>
        <p:spPr>
          <a:xfrm xmlns:a="http://schemas.openxmlformats.org/drawingml/2006/main">
            <a:off x="871728" y="1666875"/>
            <a:ext cx="7057644" cy="41910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756E81-9495-4A68-A471-CA0EC6FCC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809750"/>
            <a:ext cx="2381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625" b="1">
                <a:solidFill>
                  <a:srgbClr val="20A572"/>
                </a:solidFill>
                <a:latin typeface="Arial"/>
                <a:ea typeface="Arial"/>
                <a:cs typeface="Arial"/>
              </a:defRPr>
            </a:pPr>
            <a:r>
              <a:rPr sz="5625" b="1">
                <a:solidFill>
                  <a:srgbClr val="20A572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062B88-10A5-4FED-BD3E-84BC8770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71462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575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5758A"/>
                </a:solidFill>
                <a:latin typeface="Arial"/>
                <a:ea typeface="Arial"/>
                <a:cs typeface="Arial"/>
              </a:rPr>
              <a:t>ALERTAS SAST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B8C7D0-322F-408B-9F96-A45CD985E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62375"/>
            <a:ext cx="266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625" b="1">
                <a:solidFill>
                  <a:srgbClr val="20A572"/>
                </a:solidFill>
                <a:latin typeface="Arial"/>
                <a:ea typeface="Arial"/>
                <a:cs typeface="Arial"/>
              </a:defRPr>
            </a:pPr>
            <a:r>
              <a:rPr sz="5625" b="1">
                <a:solidFill>
                  <a:srgbClr val="20A572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A5477B-41D6-469A-A645-95BD9DAD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67250"/>
            <a:ext cx="266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575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5758A"/>
                </a:solidFill>
                <a:latin typeface="Arial"/>
                <a:ea typeface="Arial"/>
                <a:cs typeface="Arial"/>
              </a:rPr>
              <a:t>PACOTES VULNERÁVEIS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82FB20-9016-455A-AC34-82852375F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572125"/>
            <a:ext cx="257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0A57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0A572"/>
                </a:solidFill>
                <a:latin typeface="Arial"/>
                <a:ea typeface="Arial"/>
                <a:cs typeface="Arial"/>
              </a:rPr>
              <a:t>Código de saída: 0</a:t>
            </a:r>
          </a:p>
        </p:txBody>
      </p:sp>
    </p:spTree>
    <p:extLst>
      <p:ext uri="{BB962C8B-B14F-4D97-AF65-F5344CB8AC3E}">
        <p14:creationId xmlns:p14="http://schemas.microsoft.com/office/powerpoint/2010/main" val="73084609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14A627-E2CC-4E62-9A79-177B56DEF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FB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1C713A-D66A-4FE7-926D-64AEE70F4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BUILD VERMELHO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1C3A89-8356-4567-BD38-71F14C176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GitHub Actions: bloqueio confirmado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423BF6-ED8E-40B9-BED6-044BF78C6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046e1e881143cf"/>
          <a:stretch xmlns:a="http://schemas.openxmlformats.org/drawingml/2006/main"/>
        </p:blipFill>
        <p:spPr>
          <a:xfrm xmlns:a="http://schemas.openxmlformats.org/drawingml/2006/main">
            <a:off x="1029376" y="1714500"/>
            <a:ext cx="7361474" cy="41433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DD22B9-4B47-4944-B2CF-20FE53AC8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19075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E44C7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44C70"/>
                </a:solidFill>
                <a:latin typeface="Arial"/>
                <a:ea typeface="Arial"/>
                <a:cs typeface="Arial"/>
              </a:rPr>
              <a:t>Falha esperada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BDAAD4-D567-4CEA-A269-FA63F3A0D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952750"/>
            <a:ext cx="23812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A versão insegura foi bloqueada.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Os relatórios ficaram anexados à execução.</a:t>
            </a:r>
          </a:p>
        </p:txBody>
      </p:sp>
    </p:spTree>
    <p:extLst>
      <p:ext uri="{BB962C8B-B14F-4D97-AF65-F5344CB8AC3E}">
        <p14:creationId xmlns:p14="http://schemas.microsoft.com/office/powerpoint/2010/main" val="209700325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30B838-27B5-4B7A-B1EA-50ACDED29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FB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375EE9-3E6C-4F2C-B369-8A958E0FD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BUILD VERDE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A28252-210F-4D05-936C-9180B473E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GitHub Actions: correção aprovada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C157FD-5D58-4993-97A9-09F53A6D0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f26317c7bb497c"/>
          <a:stretch xmlns:a="http://schemas.openxmlformats.org/drawingml/2006/main"/>
        </p:blipFill>
        <p:spPr>
          <a:xfrm xmlns:a="http://schemas.openxmlformats.org/drawingml/2006/main">
            <a:off x="1029376" y="1714500"/>
            <a:ext cx="7361474" cy="41433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717C3F-FC52-4915-A7AF-0AB245099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19075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0A57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A572"/>
                </a:solidFill>
                <a:latin typeface="Arial"/>
                <a:ea typeface="Arial"/>
                <a:cs typeface="Arial"/>
              </a:rPr>
              <a:t>Teste aprovado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7B6670-74BE-43A5-86D3-A0CC196EC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952750"/>
            <a:ext cx="23812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A versão corrigida passou.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Os dois cenários usam o mesmo commit.</a:t>
            </a:r>
          </a:p>
        </p:txBody>
      </p:sp>
    </p:spTree>
    <p:extLst>
      <p:ext uri="{BB962C8B-B14F-4D97-AF65-F5344CB8AC3E}">
        <p14:creationId xmlns:p14="http://schemas.microsoft.com/office/powerpoint/2010/main" val="111376362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B10E93-C4B1-4028-9F8B-C01136373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FB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47389C-BBEA-471E-BAB4-CCB06208B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AVALIAÇÃO DO GRUPO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96F916-C94C-431D-8C50-E69595C97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Comparação das ferramentas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7311A3-B1F8-4CEB-B9D3-6D4C28AF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85800" y="1809750"/>
          <a:ext xmlns:a="http://schemas.openxmlformats.org/drawingml/2006/main" cx="108204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09750"/>
                <a:gridCol w="2238375"/>
                <a:gridCol w="2238375"/>
                <a:gridCol w="2238375"/>
                <a:gridCol w="2295525"/>
              </a:tblGrid>
              <a:tr h="6286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Critério</a:t>
                      </a:r>
                    </a:p>
                  </a:txBody>
                  <a:tcPr marL="91440" marR="91440" marT="45720" marB="45720">
                    <a:solidFill>
                      <a:srgbClr val="0B20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njsscan</a:t>
                      </a:r>
                    </a:p>
                  </a:txBody>
                  <a:tcPr marL="91440" marR="91440" marT="45720" marB="45720">
                    <a:solidFill>
                      <a:srgbClr val="0B20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npm audit</a:t>
                      </a:r>
                    </a:p>
                  </a:txBody>
                  <a:tcPr marL="91440" marR="91440" marT="45720" marB="45720">
                    <a:solidFill>
                      <a:srgbClr val="0B20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Datree</a:t>
                      </a:r>
                    </a:p>
                  </a:txBody>
                  <a:tcPr marL="91440" marR="91440" marT="45720" marB="45720">
                    <a:solidFill>
                      <a:srgbClr val="0B20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StackHawk</a:t>
                      </a:r>
                    </a:p>
                  </a:txBody>
                  <a:tcPr marL="91440" marR="91440" marT="45720" marB="45720">
                    <a:solidFill>
                      <a:srgbClr val="0B2037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Entrada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Código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Dependências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Kubernetes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Aplicação ativa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Situação no lab</a:t>
                      </a:r>
                    </a:p>
                  </a:txBody>
                  <a:tcPr marL="91440" marR="91440" marT="45720" marB="45720">
                    <a:solidFill>
                      <a:srgbClr val="ED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Executado</a:t>
                      </a:r>
                    </a:p>
                  </a:txBody>
                  <a:tcPr marL="91440" marR="91440" marT="45720" marB="45720">
                    <a:solidFill>
                      <a:srgbClr val="ED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Executado</a:t>
                      </a:r>
                    </a:p>
                  </a:txBody>
                  <a:tcPr marL="91440" marR="91440" marT="45720" marB="45720">
                    <a:solidFill>
                      <a:srgbClr val="ED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Pesquisado</a:t>
                      </a:r>
                    </a:p>
                  </a:txBody>
                  <a:tcPr marL="91440" marR="91440" marT="45720" marB="45720">
                    <a:solidFill>
                      <a:srgbClr val="ED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Pesquisado</a:t>
                      </a:r>
                    </a:p>
                  </a:txBody>
                  <a:tcPr marL="91440" marR="91440" marT="45720" marB="45720">
                    <a:solidFill>
                      <a:srgbClr val="EDF6F9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Resultado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3 alertas → 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1 HIGH → 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Sem execução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Sem execução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Limitação</a:t>
                      </a:r>
                    </a:p>
                  </a:txBody>
                  <a:tcPr marL="91440" marR="91440" marT="45720" marB="45720">
                    <a:solidFill>
                      <a:srgbClr val="ED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Regras</a:t>
                      </a:r>
                    </a:p>
                  </a:txBody>
                  <a:tcPr marL="91440" marR="91440" marT="45720" marB="45720">
                    <a:solidFill>
                      <a:srgbClr val="ED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Avisos conhecidos</a:t>
                      </a:r>
                    </a:p>
                  </a:txBody>
                  <a:tcPr marL="91440" marR="91440" marT="45720" marB="45720">
                    <a:solidFill>
                      <a:srgbClr val="ED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Arquivado</a:t>
                      </a:r>
                    </a:p>
                  </a:txBody>
                  <a:tcPr marL="91440" marR="91440" marT="45720" marB="45720">
                    <a:solidFill>
                      <a:srgbClr val="ED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0B2037"/>
                          </a:solidFill>
                          <a:latin typeface="Arial"/>
                          <a:ea typeface="Arial"/>
                          <a:cs typeface="Arial"/>
                        </a:rPr>
                        <a:t>Cobertura e conta</a:t>
                      </a:r>
                    </a:p>
                  </a:txBody>
                  <a:tcPr marL="91440" marR="91440" marT="45720" marB="45720">
                    <a:solidFill>
                      <a:srgbClr val="EDF6F9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839765-907A-4855-B532-4BCA9A6BD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D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0E04EE-1815-4008-8F29-00B8BA058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975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SAST e SCA desde o começo; IaC antes do deploy e DAST no ambiente de teste.</a:t>
            </a:r>
          </a:p>
        </p:txBody>
      </p:sp>
    </p:spTree>
    <p:extLst>
      <p:ext uri="{BB962C8B-B14F-4D97-AF65-F5344CB8AC3E}">
        <p14:creationId xmlns:p14="http://schemas.microsoft.com/office/powerpoint/2010/main" val="26199740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153558-F4AB-4870-B3BA-CE3C903A8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FB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3A5527-2D1C-4162-AC48-A86A72B70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12 MINUTOS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8D9DC8-B9A9-4F9A-B57D-EDBCB8024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Laboratório guiado: comandos e perguntas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62FA16-BE03-458B-94EA-83F92451E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17BFBA-66BA-4A84-9D2E-5E5777829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0500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01  Executar a versão insegura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A86A7A-AD8F-4DBC-8002-8C2200D55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104775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A"/>
          </a:solidFill>
          <a:ln xmlns:a="http://schemas.openxmlformats.org/drawingml/2006/main" w="9525">
            <a:solidFill>
              <a:srgbClr val="DCE5ED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DE35E7-E957-44F7-8D36-885EACB11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09850"/>
            <a:ext cx="100584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0B2037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0B2037"/>
                </a:solidFill>
                <a:latin typeface="Consolas"/>
                <a:ea typeface="Consolas"/>
                <a:cs typeface="Consolas"/>
              </a:rPr>
              <a:t>docker compose run --rm lab inseguro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8EAEC8-E65E-47B9-A906-0F45B0BA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02  Comparar código e dependências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E87612-224F-4478-9C83-2103FAD48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290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Conferir XSS, exec, eval e a versão do lodash.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7720B5-460B-4F43-BACA-F56A00E47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243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03  Executar a versão corrigida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D11045-094B-4977-9ED3-84841B511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00625"/>
            <a:ext cx="104775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A"/>
          </a:solidFill>
          <a:ln xmlns:a="http://schemas.openxmlformats.org/drawingml/2006/main" w="9525">
            <a:solidFill>
              <a:srgbClr val="DCE5ED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11E3FF-2278-4AFA-B7CC-F5CC966CA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29225"/>
            <a:ext cx="100584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0B2037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0B2037"/>
                </a:solidFill>
                <a:latin typeface="Consolas"/>
                <a:ea typeface="Consolas"/>
                <a:cs typeface="Consolas"/>
              </a:rPr>
              <a:t>docker compose run --rm lab corrigido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8BD8D9-BBDB-4112-A1F0-8B059C638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9122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Perguntas: como ERROR é tratado pelo gate? Qual CWE corresponde ao eval?</a:t>
            </a:r>
          </a:p>
        </p:txBody>
      </p:sp>
    </p:spTree>
    <p:extLst>
      <p:ext uri="{BB962C8B-B14F-4D97-AF65-F5344CB8AC3E}">
        <p14:creationId xmlns:p14="http://schemas.microsoft.com/office/powerpoint/2010/main" val="671906763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1B683A-9F2F-47BB-848D-6276DDB56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FB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0EE588-29B0-4E48-9312-ABBBC990E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CONCLUSÃO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80CA0E-FE58-488B-9511-81CF0B5D9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O que o laboratório mostrou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1F1A76-2B5B-476A-934D-071B134C4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BA6BEB-E906-4A03-9C0C-2409FDA28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526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Aprendizado principal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11E257-EEB7-4794-9A4F-F64F82999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5048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Código e bibliotecas têm problemas diferentes e precisam de correções diferentes.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6B3F18-D030-46BD-AF37-6E62A81D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526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Limites do resultado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FF8168-7601-4808-8AEF-486D9BED7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67000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60A392-D654-42EF-A19E-A4DB71FF7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667000"/>
            <a:ext cx="4476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A amostra tem falhas intencionais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6A2BB4-F4DF-4BD7-817A-048C22101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81375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5E3024-463B-4D76-A850-D13F4F66D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381375"/>
            <a:ext cx="4476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Datree e StackHawk não rodaram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8D1C00-BC98-4927-8801-1880D81A7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95750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5A5E03-A127-48C2-B0B5-018DB8934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095750"/>
            <a:ext cx="4476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Zero alertas não garante segurança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6C73D7-BB38-4B36-B0AA-078B04328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810125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E290D6-35B6-4402-9FA5-A89151636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810125"/>
            <a:ext cx="4476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A revisão humana continua necessária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28B095-50BA-431F-9D3D-BB1247644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D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2363E3-C281-4938-9483-F64FF229C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975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O scanner aponta o alerta; a equipe entende a causa, corrige e testa novamente.</a:t>
            </a:r>
          </a:p>
        </p:txBody>
      </p:sp>
    </p:spTree>
    <p:extLst>
      <p:ext uri="{BB962C8B-B14F-4D97-AF65-F5344CB8AC3E}">
        <p14:creationId xmlns:p14="http://schemas.microsoft.com/office/powerpoint/2010/main" val="34924107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DEB16F-35B8-4C8C-B3EE-5B6AC0706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FB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D5485B-DA71-4D68-BD8C-1B8359847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ENCERRAMENTO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073B52-79D7-499F-91F9-B63A0A1E7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Referências principais e perguntas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6F383D-55B9-49F2-B91C-5B816020E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93BDE3-2955-4979-87EF-74B0D2C9A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0500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Documentação e projetos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B165BC-F550-404B-9D7B-93E824FAE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19375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42917B-DAE8-43AA-8040-95EE9B44C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19375"/>
            <a:ext cx="5095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njsscan: repositório e documentação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5DB48C-BEC0-4021-B233-0FCC9E360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48025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0C9D87-9BF7-4C6C-9739-42DE9B4E3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48025"/>
            <a:ext cx="5095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npm: audit e SBOM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FA249F-4BCA-4FD0-A953-121AF8314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76675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AADD3B-C37A-4E4A-AD91-30BA1631D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876675"/>
            <a:ext cx="5095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Datree: repositório e situação do projeto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1AEEA5-2008-4B34-BB96-B2AE6451F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05325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CA2F04-842E-42CE-A886-06EEF7949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05325"/>
            <a:ext cx="5095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StackHawk: HawkScan e configuração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B5EB3A-9018-41ED-B6F6-AE07A1E70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0500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Fundamentos e análise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C2DE92-2241-4DBA-A3C1-40B733E71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19375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A767A8-5A59-488D-AA88-43B30F67A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6193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NIST SP 800-218 / SSDF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5A686F-71AE-454B-A3AB-BF0119403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48025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E80B62-4009-4CC4-A09E-24D8A5FC9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4802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MITRE CWE-78, CWE-79 e CWE-95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F2AD59-1E01-4CC9-B9B7-DD5788E84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76675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E55273-6374-407F-A4F8-B0E7C4E7D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8766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GitHub Advisory Database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D9AD9A-EF45-48C4-BC39-24B775489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05325"/>
            <a:ext cx="20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9FB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9FB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49B826-867E-4F74-9879-F393B0B2F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50532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B2037"/>
                </a:solidFill>
                <a:latin typeface="Arial"/>
                <a:ea typeface="Arial"/>
                <a:cs typeface="Arial"/>
              </a:rPr>
              <a:t>Relatórios reais do laboratório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7AF70C-5D27-412B-8909-057365EB2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D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540AFF-FACC-47EC-9603-F40934CAA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975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203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B2037"/>
                </a:solidFill>
                <a:latin typeface="Arial"/>
                <a:ea typeface="Arial"/>
                <a:cs typeface="Arial"/>
              </a:rPr>
              <a:t>Perguntas? O relatório e o LAB.md estão no repositório público do grupo 3.</a:t>
            </a:r>
          </a:p>
        </p:txBody>
      </p:sp>
    </p:spTree>
    <p:extLst>
      <p:ext uri="{BB962C8B-B14F-4D97-AF65-F5344CB8AC3E}">
        <p14:creationId xmlns:p14="http://schemas.microsoft.com/office/powerpoint/2010/main" val="5841825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2026-09-16T20:19:21.6600000Z</dcterms:created>
  <dcterms:modified xsi:type="dcterms:W3CDTF">2026-09-16T20:19:21.6600000Z</dcterms:modified>
</coreProperties>
</file>