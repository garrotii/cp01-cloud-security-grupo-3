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d60821a039405c" /><Relationship Type="http://schemas.openxmlformats.org/officeDocument/2006/relationships/extended-properties" Target="/docProps/app.xml" Id="R027b3e810a6f458d" /><Relationship Type="http://schemas.openxmlformats.org/officeDocument/2006/relationships/officeDocument" Target="/ppt/presentation.xml" Id="R2b73804c1cc342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1d5ace09294e4f"/>
  </p:sldMasterIdLst>
  <p:notesMasterIdLst>
    <p:notesMasterId xmlns:r="http://schemas.openxmlformats.org/officeDocument/2006/relationships" r:id="R9a3a6aad1a0e48c8"/>
  </p:notesMasterIdLst>
  <p:sldIdLst>
    <p:sldId xmlns:r="http://schemas.openxmlformats.org/officeDocument/2006/relationships" id="256" r:id="Ra8c466e68a4c470c"/>
    <p:sldId xmlns:r="http://schemas.openxmlformats.org/officeDocument/2006/relationships" id="257" r:id="Rd2e0e1a067424071"/>
    <p:sldId xmlns:r="http://schemas.openxmlformats.org/officeDocument/2006/relationships" id="258" r:id="R9b9a6b1c18374ea9"/>
    <p:sldId xmlns:r="http://schemas.openxmlformats.org/officeDocument/2006/relationships" id="259" r:id="R11f24b1978bd407d"/>
    <p:sldId xmlns:r="http://schemas.openxmlformats.org/officeDocument/2006/relationships" id="260" r:id="Rb4ec4aae8abe470e"/>
    <p:sldId xmlns:r="http://schemas.openxmlformats.org/officeDocument/2006/relationships" id="261" r:id="R4727117da1744364"/>
    <p:sldId xmlns:r="http://schemas.openxmlformats.org/officeDocument/2006/relationships" id="262" r:id="R1250f04edf1f43ed"/>
    <p:sldId xmlns:r="http://schemas.openxmlformats.org/officeDocument/2006/relationships" id="263" r:id="R7fc857b38abd4b66"/>
    <p:sldId xmlns:r="http://schemas.openxmlformats.org/officeDocument/2006/relationships" id="264" r:id="R30f5f8d7d88344e6"/>
    <p:sldId xmlns:r="http://schemas.openxmlformats.org/officeDocument/2006/relationships" id="265" r:id="Raeb0421b9d8b4a88"/>
    <p:sldId xmlns:r="http://schemas.openxmlformats.org/officeDocument/2006/relationships" id="266" r:id="R17bbac6aee9f4984"/>
    <p:sldId xmlns:r="http://schemas.openxmlformats.org/officeDocument/2006/relationships" id="267" r:id="Rb0ed0f535c3246c3"/>
    <p:sldId xmlns:r="http://schemas.openxmlformats.org/officeDocument/2006/relationships" id="268" r:id="Rf2f41a9da5ee42e9"/>
    <p:sldId xmlns:r="http://schemas.openxmlformats.org/officeDocument/2006/relationships" id="269" r:id="R6860fa3d5b1d4028"/>
    <p:sldId xmlns:r="http://schemas.openxmlformats.org/officeDocument/2006/relationships" id="270" r:id="R5bb1e56ec2ad4147"/>
    <p:sldId xmlns:r="http://schemas.openxmlformats.org/officeDocument/2006/relationships" id="271" r:id="Ra3b25bd0d2634d61"/>
    <p:sldId xmlns:r="http://schemas.openxmlformats.org/officeDocument/2006/relationships" id="272" r:id="Rc1368fa6394a45a0"/>
    <p:sldId xmlns:r="http://schemas.openxmlformats.org/officeDocument/2006/relationships" id="273" r:id="Rf46f90a78fa749cf"/>
    <p:sldId xmlns:r="http://schemas.openxmlformats.org/officeDocument/2006/relationships" id="274" r:id="R66cacf7414c54251"/>
    <p:sldId xmlns:r="http://schemas.openxmlformats.org/officeDocument/2006/relationships" id="275" r:id="Rce07035049ef480a"/>
    <p:sldId xmlns:r="http://schemas.openxmlformats.org/officeDocument/2006/relationships" id="276" r:id="Ra126c38802ff4ffd"/>
    <p:sldId xmlns:r="http://schemas.openxmlformats.org/officeDocument/2006/relationships" id="277" r:id="R53808db1baf84c26"/>
    <p:sldId xmlns:r="http://schemas.openxmlformats.org/officeDocument/2006/relationships" id="278" r:id="Recb45663160d4422"/>
    <p:sldId xmlns:r="http://schemas.openxmlformats.org/officeDocument/2006/relationships" id="279" r:id="Raf1d16aa0cb049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9692eb67184127" /><Relationship Type="http://schemas.openxmlformats.org/officeDocument/2006/relationships/slideMaster" Target="/ppt/slideMasters/slideMaster1.xml" Id="R831d5ace09294e4f" /><Relationship Type="http://schemas.openxmlformats.org/officeDocument/2006/relationships/notesMaster" Target="/ppt/notesMasters/notesMaster1.xml" Id="R9a3a6aad1a0e48c8" /><Relationship Type="http://schemas.openxmlformats.org/officeDocument/2006/relationships/presProps" Target="/ppt/presProps.xml" Id="R6cf95f5275754fec" /><Relationship Type="http://schemas.openxmlformats.org/officeDocument/2006/relationships/tableStyles" Target="/ppt/tableStyles.xml" Id="R8e718f1418714842" /><Relationship Type="http://schemas.openxmlformats.org/officeDocument/2006/relationships/slide" Target="/ppt/slides/slide1.xml" Id="Ra8c466e68a4c470c" /><Relationship Type="http://schemas.openxmlformats.org/officeDocument/2006/relationships/slide" Target="/ppt/slides/slide2.xml" Id="Rd2e0e1a067424071" /><Relationship Type="http://schemas.openxmlformats.org/officeDocument/2006/relationships/slide" Target="/ppt/slides/slide3.xml" Id="R9b9a6b1c18374ea9" /><Relationship Type="http://schemas.openxmlformats.org/officeDocument/2006/relationships/slide" Target="/ppt/slides/slide4.xml" Id="R11f24b1978bd407d" /><Relationship Type="http://schemas.openxmlformats.org/officeDocument/2006/relationships/slide" Target="/ppt/slides/slide5.xml" Id="Rb4ec4aae8abe470e" /><Relationship Type="http://schemas.openxmlformats.org/officeDocument/2006/relationships/slide" Target="/ppt/slides/slide6.xml" Id="R4727117da1744364" /><Relationship Type="http://schemas.openxmlformats.org/officeDocument/2006/relationships/slide" Target="/ppt/slides/slide7.xml" Id="R1250f04edf1f43ed" /><Relationship Type="http://schemas.openxmlformats.org/officeDocument/2006/relationships/slide" Target="/ppt/slides/slide8.xml" Id="R7fc857b38abd4b66" /><Relationship Type="http://schemas.openxmlformats.org/officeDocument/2006/relationships/slide" Target="/ppt/slides/slide9.xml" Id="R30f5f8d7d88344e6" /><Relationship Type="http://schemas.openxmlformats.org/officeDocument/2006/relationships/slide" Target="/ppt/slides/slide10.xml" Id="Raeb0421b9d8b4a88" /><Relationship Type="http://schemas.openxmlformats.org/officeDocument/2006/relationships/slide" Target="/ppt/slides/slide11.xml" Id="R17bbac6aee9f4984" /><Relationship Type="http://schemas.openxmlformats.org/officeDocument/2006/relationships/slide" Target="/ppt/slides/slide12.xml" Id="Rb0ed0f535c3246c3" /><Relationship Type="http://schemas.openxmlformats.org/officeDocument/2006/relationships/slide" Target="/ppt/slides/slide13.xml" Id="Rf2f41a9da5ee42e9" /><Relationship Type="http://schemas.openxmlformats.org/officeDocument/2006/relationships/slide" Target="/ppt/slides/slide14.xml" Id="R6860fa3d5b1d4028" /><Relationship Type="http://schemas.openxmlformats.org/officeDocument/2006/relationships/slide" Target="/ppt/slides/slide15.xml" Id="R5bb1e56ec2ad4147" /><Relationship Type="http://schemas.openxmlformats.org/officeDocument/2006/relationships/slide" Target="/ppt/slides/slide16.xml" Id="Ra3b25bd0d2634d61" /><Relationship Type="http://schemas.openxmlformats.org/officeDocument/2006/relationships/slide" Target="/ppt/slides/slide17.xml" Id="Rc1368fa6394a45a0" /><Relationship Type="http://schemas.openxmlformats.org/officeDocument/2006/relationships/slide" Target="/ppt/slides/slide18.xml" Id="Rf46f90a78fa749cf" /><Relationship Type="http://schemas.openxmlformats.org/officeDocument/2006/relationships/slide" Target="/ppt/slides/slide19.xml" Id="R66cacf7414c54251" /><Relationship Type="http://schemas.openxmlformats.org/officeDocument/2006/relationships/slide" Target="/ppt/slides/slide20.xml" Id="Rce07035049ef480a" /><Relationship Type="http://schemas.openxmlformats.org/officeDocument/2006/relationships/slide" Target="/ppt/slides/slide21.xml" Id="Ra126c38802ff4ffd" /><Relationship Type="http://schemas.openxmlformats.org/officeDocument/2006/relationships/slide" Target="/ppt/slides/slide22.xml" Id="R53808db1baf84c26" /><Relationship Type="http://schemas.openxmlformats.org/officeDocument/2006/relationships/slide" Target="/ppt/slides/slide23.xml" Id="Recb45663160d4422" /><Relationship Type="http://schemas.openxmlformats.org/officeDocument/2006/relationships/slide" Target="/ppt/slides/slide24.xml" Id="Raf1d16aa0cb049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b6cc779afb4a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bb85143791423f" /><Relationship Type="http://schemas.openxmlformats.org/officeDocument/2006/relationships/notesMaster" Target="/ppt/notesMasters/notesMaster1.xml" Id="R89a009c6c2bf40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f98bc310c54b1a" /><Relationship Type="http://schemas.openxmlformats.org/officeDocument/2006/relationships/notesMaster" Target="/ppt/notesMasters/notesMaster1.xml" Id="Rb47ad6a210c24f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c5c2f97ced4764" /><Relationship Type="http://schemas.openxmlformats.org/officeDocument/2006/relationships/notesMaster" Target="/ppt/notesMasters/notesMaster1.xml" Id="Rcd4e7d52ba2c4d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1c9dd33ca14b1f" /><Relationship Type="http://schemas.openxmlformats.org/officeDocument/2006/relationships/notesMaster" Target="/ppt/notesMasters/notesMaster1.xml" Id="R6c65fda2cacf46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d228a927d74cfc" /><Relationship Type="http://schemas.openxmlformats.org/officeDocument/2006/relationships/notesMaster" Target="/ppt/notesMasters/notesMaster1.xml" Id="Re46a8af483644f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a5824906e049c9" /><Relationship Type="http://schemas.openxmlformats.org/officeDocument/2006/relationships/notesMaster" Target="/ppt/notesMasters/notesMaster1.xml" Id="R857a5f278a8d48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055512cb2648ef" /><Relationship Type="http://schemas.openxmlformats.org/officeDocument/2006/relationships/notesMaster" Target="/ppt/notesMasters/notesMaster1.xml" Id="Raef7d234c0a444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e9d061c596428e" /><Relationship Type="http://schemas.openxmlformats.org/officeDocument/2006/relationships/notesMaster" Target="/ppt/notesMasters/notesMaster1.xml" Id="R0fe8f554204745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da95515e654a18" /><Relationship Type="http://schemas.openxmlformats.org/officeDocument/2006/relationships/notesMaster" Target="/ppt/notesMasters/notesMaster1.xml" Id="R203c4719541846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e5c982d6934663" /><Relationship Type="http://schemas.openxmlformats.org/officeDocument/2006/relationships/notesMaster" Target="/ppt/notesMasters/notesMaster1.xml" Id="R7ab1a665529843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94ddab3b554cd7" /><Relationship Type="http://schemas.openxmlformats.org/officeDocument/2006/relationships/notesMaster" Target="/ppt/notesMasters/notesMaster1.xml" Id="Re77451ca395741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9184a6a2e540ca" /><Relationship Type="http://schemas.openxmlformats.org/officeDocument/2006/relationships/notesMaster" Target="/ppt/notesMasters/notesMaster1.xml" Id="R1ad64194989748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e25459ac924249" /><Relationship Type="http://schemas.openxmlformats.org/officeDocument/2006/relationships/notesMaster" Target="/ppt/notesMasters/notesMaster1.xml" Id="Rca6c950c238b45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fab0e8ec6a43f1" /><Relationship Type="http://schemas.openxmlformats.org/officeDocument/2006/relationships/notesMaster" Target="/ppt/notesMasters/notesMaster1.xml" Id="R6536acb4104b43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975eb0820f42b6" /><Relationship Type="http://schemas.openxmlformats.org/officeDocument/2006/relationships/notesMaster" Target="/ppt/notesMasters/notesMaster1.xml" Id="R40d2a1dbd98e4d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48856e11194e6f" /><Relationship Type="http://schemas.openxmlformats.org/officeDocument/2006/relationships/notesMaster" Target="/ppt/notesMasters/notesMaster1.xml" Id="R232a136c25d148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cd8c0cbe194dd8" /><Relationship Type="http://schemas.openxmlformats.org/officeDocument/2006/relationships/notesMaster" Target="/ppt/notesMasters/notesMaster1.xml" Id="Rc8892dc80ee74b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0e521929584474" /><Relationship Type="http://schemas.openxmlformats.org/officeDocument/2006/relationships/notesMaster" Target="/ppt/notesMasters/notesMaster1.xml" Id="R5dcfeb8ce7124f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1a04240d4e433a" /><Relationship Type="http://schemas.openxmlformats.org/officeDocument/2006/relationships/notesMaster" Target="/ppt/notesMasters/notesMaster1.xml" Id="R3c3c50fdee3247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52f65458bd4028" /><Relationship Type="http://schemas.openxmlformats.org/officeDocument/2006/relationships/notesMaster" Target="/ppt/notesMasters/notesMaster1.xml" Id="Rb776aeca998f4a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4e4c6e3dcbc4987" /><Relationship Type="http://schemas.openxmlformats.org/officeDocument/2006/relationships/notesMaster" Target="/ppt/notesMasters/notesMaster1.xml" Id="Rbfcddc1c16b143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9b204e53e449b9" /><Relationship Type="http://schemas.openxmlformats.org/officeDocument/2006/relationships/notesMaster" Target="/ppt/notesMasters/notesMaster1.xml" Id="R96495498ca2b49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0c25ba14e34a67" /><Relationship Type="http://schemas.openxmlformats.org/officeDocument/2006/relationships/notesMaster" Target="/ppt/notesMasters/notesMaster1.xml" Id="R2141024b1479483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7e38b8cb8e49f8" /><Relationship Type="http://schemas.openxmlformats.org/officeDocument/2006/relationships/notesMaster" Target="/ppt/notesMasters/notesMaster1.xml" Id="Rfafd259a0400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no relatório e nas referências incluídas na entrega. Apresente com suas próprias palavras.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c19a64e2c4b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518bc916694826" /><Relationship Type="http://schemas.openxmlformats.org/officeDocument/2006/relationships/slideLayout" Target="/ppt/slideLayouts/slideLayout1.xml" Id="Ra39a70191cdc4d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9a70191cdc4d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e7a1e31eb4491" /><Relationship Type="http://schemas.openxmlformats.org/officeDocument/2006/relationships/notesSlide" Target="/ppt/notesSlides/notesSlide1.xml" Id="R454ac2f89f984d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a6831d2a44507" /><Relationship Type="http://schemas.openxmlformats.org/officeDocument/2006/relationships/notesSlide" Target="/ppt/notesSlides/notesSlide2.xml" Id="R43ab41d9f0c140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29927c4af42d5" /><Relationship Type="http://schemas.openxmlformats.org/officeDocument/2006/relationships/notesSlide" Target="/ppt/notesSlides/notesSlide3.xml" Id="R631703be5d7b45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989784f0f407f" /><Relationship Type="http://schemas.openxmlformats.org/officeDocument/2006/relationships/notesSlide" Target="/ppt/notesSlides/notesSlide4.xml" Id="R522538fd938243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d146de8624983" /><Relationship Type="http://schemas.openxmlformats.org/officeDocument/2006/relationships/notesSlide" Target="/ppt/notesSlides/notesSlide5.xml" Id="R20625318576e49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ed22653a84a2a" /><Relationship Type="http://schemas.openxmlformats.org/officeDocument/2006/relationships/image" Target="/ppt/media/image.png" Id="R424b35a0c178433d" /><Relationship Type="http://schemas.openxmlformats.org/officeDocument/2006/relationships/notesSlide" Target="/ppt/notesSlides/notesSlide6.xml" Id="R6168acb3a3354a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55bb8d258440e" /><Relationship Type="http://schemas.openxmlformats.org/officeDocument/2006/relationships/notesSlide" Target="/ppt/notesSlides/notesSlide7.xml" Id="R3966c87992a447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a09dd0741498e" /><Relationship Type="http://schemas.openxmlformats.org/officeDocument/2006/relationships/notesSlide" Target="/ppt/notesSlides/notesSlide8.xml" Id="R00739a65de514c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ebad3bd99432b" /><Relationship Type="http://schemas.openxmlformats.org/officeDocument/2006/relationships/notesSlide" Target="/ppt/notesSlides/notesSlide9.xml" Id="R7c06729c188040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b0c562e2f4675" /><Relationship Type="http://schemas.openxmlformats.org/officeDocument/2006/relationships/image" Target="/ppt/media/image2.png" Id="Rdd4ad4b16414435a" /><Relationship Type="http://schemas.openxmlformats.org/officeDocument/2006/relationships/notesSlide" Target="/ppt/notesSlides/notesSlide10.xml" Id="R9093b7d91c2245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972cff0484ff2" /><Relationship Type="http://schemas.openxmlformats.org/officeDocument/2006/relationships/notesSlide" Target="/ppt/notesSlides/notesSlide11.xml" Id="Rb3d6ddc032fe4d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0643a711a4d0b" /><Relationship Type="http://schemas.openxmlformats.org/officeDocument/2006/relationships/notesSlide" Target="/ppt/notesSlides/notesSlide12.xml" Id="R684ec1ed7ffe46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6a5a16cd14a7a" /><Relationship Type="http://schemas.openxmlformats.org/officeDocument/2006/relationships/notesSlide" Target="/ppt/notesSlides/notesSlide13.xml" Id="Rd8c37f47043d4f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07540fa684c96" /><Relationship Type="http://schemas.openxmlformats.org/officeDocument/2006/relationships/notesSlide" Target="/ppt/notesSlides/notesSlide14.xml" Id="Ref3cd81b50394a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db5f85bae43bf" /><Relationship Type="http://schemas.openxmlformats.org/officeDocument/2006/relationships/notesSlide" Target="/ppt/notesSlides/notesSlide15.xml" Id="Rdc6151e2195a40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969af3cbd48ba" /><Relationship Type="http://schemas.openxmlformats.org/officeDocument/2006/relationships/image" Target="/ppt/media/image3.png" Id="R3794b35d97c0446b" /><Relationship Type="http://schemas.openxmlformats.org/officeDocument/2006/relationships/notesSlide" Target="/ppt/notesSlides/notesSlide16.xml" Id="R3679db28ac0a40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8f179f16f4cb7" /><Relationship Type="http://schemas.openxmlformats.org/officeDocument/2006/relationships/image" Target="/ppt/media/image4.png" Id="R7544751dee014a50" /><Relationship Type="http://schemas.openxmlformats.org/officeDocument/2006/relationships/notesSlide" Target="/ppt/notesSlides/notesSlide17.xml" Id="R756cf4e057864e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bc7e066f3467b" /><Relationship Type="http://schemas.openxmlformats.org/officeDocument/2006/relationships/notesSlide" Target="/ppt/notesSlides/notesSlide18.xml" Id="R7bb0c4555ed644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79da29f5547fc" /><Relationship Type="http://schemas.openxmlformats.org/officeDocument/2006/relationships/image" Target="/ppt/media/image5.png" Id="R3730f1f2e0fb4638" /><Relationship Type="http://schemas.openxmlformats.org/officeDocument/2006/relationships/notesSlide" Target="/ppt/notesSlides/notesSlide19.xml" Id="R8ffcbee022014a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7a3c1816a4ebf" /><Relationship Type="http://schemas.openxmlformats.org/officeDocument/2006/relationships/image" Target="/ppt/media/image6.png" Id="Rd710e085630b46bc" /><Relationship Type="http://schemas.openxmlformats.org/officeDocument/2006/relationships/notesSlide" Target="/ppt/notesSlides/notesSlide20.xml" Id="R7a546c51192249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7550b39c44c51" /><Relationship Type="http://schemas.openxmlformats.org/officeDocument/2006/relationships/image" Target="/ppt/media/image7.png" Id="R3bc43517c3264bce" /><Relationship Type="http://schemas.openxmlformats.org/officeDocument/2006/relationships/notesSlide" Target="/ppt/notesSlides/notesSlide21.xml" Id="Rabd495a902794b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f7ea1e84e48fd" /><Relationship Type="http://schemas.openxmlformats.org/officeDocument/2006/relationships/notesSlide" Target="/ppt/notesSlides/notesSlide22.xml" Id="Rd26cb10b62d1404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e19ca78a94d30" /><Relationship Type="http://schemas.openxmlformats.org/officeDocument/2006/relationships/notesSlide" Target="/ppt/notesSlides/notesSlide23.xml" Id="R40c13c67548640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36dc8738d4514" /><Relationship Type="http://schemas.openxmlformats.org/officeDocument/2006/relationships/notesSlide" Target="/ppt/notesSlides/notesSlide24.xml" Id="R9f6c09f4806845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5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5CBA6-2BCF-448F-A3C0-552CC63E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1EA24-7B8D-41C1-8B88-65B1EE0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POINT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303D6-F081-4865-82BE-8D0F6424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DE8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DE8F5"/>
                </a:solidFill>
                <a:latin typeface="Arial"/>
                <a:ea typeface="Arial"/>
                <a:cs typeface="Arial"/>
              </a:rPr>
              <a:t>Ferramentas open source de segurança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E2AA2-2272-47C4-B593-1796DB12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 SECURITY  |  Professor Fabio Pires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6F561-CEE2-418D-A90D-A43C2BD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Leonardo Garroti  •  Aquiles Fonseca  •  Leandro de Souza</a:t>
            </a:r>
          </a:p>
        </p:txBody>
      </p:sp>
    </p:spTree>
    <p:extLst>
      <p:ext uri="{BB962C8B-B14F-4D97-AF65-F5344CB8AC3E}">
        <p14:creationId xmlns:p14="http://schemas.microsoft.com/office/powerpoint/2010/main" val="1880934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3BF6D-23D6-4B80-9920-5F5A9511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45022-9763-444F-89A2-6D816C7A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Objetivo do trabalho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06A1-E660-4955-B66D-7580EECA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AEF37-EA4F-42E4-9500-E4FBB41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001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Entender quatro tipos de teste de segurança</a:t>
            </a:r>
          </a:p>
          <a:p xmlns:a="http://schemas.openxmlformats.org/drawingml/2006/main">
            <a:pPr algn="l">
              <a:defRPr sz="21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Estudar as ferramentas indicadas ao grupo 3</a:t>
            </a:r>
          </a:p>
          <a:p xmlns:a="http://schemas.openxmlformats.org/drawingml/2006/main">
            <a:pPr algn="l">
              <a:defRPr sz="21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Executar njsscan e npm audit no Docker</a:t>
            </a:r>
          </a:p>
          <a:p xmlns:a="http://schemas.openxmlformats.org/drawingml/2006/main">
            <a:pPr algn="l">
              <a:defRPr sz="21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Comparar uma versão insegura com outra corrigida</a:t>
            </a:r>
          </a:p>
        </p:txBody>
      </p:sp>
    </p:spTree>
    <p:extLst>
      <p:ext uri="{BB962C8B-B14F-4D97-AF65-F5344CB8AC3E}">
        <p14:creationId xmlns:p14="http://schemas.microsoft.com/office/powerpoint/2010/main" val="989277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250E4-BDFB-4B5B-968F-B5F179F5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D59FD-5138-462D-B005-B7D8E42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Quatro formas de olhar a segurança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F6367-0645-467C-959D-DA3B5C8C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B0487-FEE9-4C38-B120-AC3B7A02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001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SAST: verifica o código</a:t>
            </a:r>
          </a:p>
          <a:p xmlns:a="http://schemas.openxmlformats.org/drawingml/2006/main">
            <a:pPr algn="l">
              <a:defRPr sz="22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SCA: verifica as bibliotecas</a:t>
            </a:r>
          </a:p>
          <a:p xmlns:a="http://schemas.openxmlformats.org/drawingml/2006/main">
            <a:pPr algn="l">
              <a:defRPr sz="22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IaC: verifica arquivos de infraestrutura</a:t>
            </a:r>
          </a:p>
          <a:p xmlns:a="http://schemas.openxmlformats.org/drawingml/2006/main">
            <a:pPr algn="l">
              <a:defRPr sz="22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DAST: testa a aplicação funcionando</a:t>
            </a:r>
          </a:p>
        </p:txBody>
      </p:sp>
    </p:spTree>
    <p:extLst>
      <p:ext uri="{BB962C8B-B14F-4D97-AF65-F5344CB8AC3E}">
        <p14:creationId xmlns:p14="http://schemas.microsoft.com/office/powerpoint/2010/main" val="6891209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41F9B-4FD7-4D68-92FE-E7B1203C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3C50F-106E-4198-BDC6-0BF295AC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Onde cada teste entra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60AC0-34CE-4618-8DEF-CBC3E2FB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05554-510D-4675-A32D-4EBF496A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10001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Ao escrever o código: SAST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Ao instalar dependências: SCA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Antes do deploy: análise de IaC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No ambiente de teste: DAST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Testar cedo ajuda a corrigir antes da entrega</a:t>
            </a:r>
          </a:p>
        </p:txBody>
      </p:sp>
    </p:spTree>
    <p:extLst>
      <p:ext uri="{BB962C8B-B14F-4D97-AF65-F5344CB8AC3E}">
        <p14:creationId xmlns:p14="http://schemas.microsoft.com/office/powerpoint/2010/main" val="1369620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A200F-AC33-4FAD-8B2B-B206B692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8E372-7D4E-443C-B8EE-F44A988D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njsscan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904B3-FE64-46A9-BC0F-3A33AAC8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C79A3-4D44-43BF-AA91-F554EBE7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857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Scanner SAST para Node.js</a:t>
            </a:r>
          </a:p>
          <a:p xmlns:a="http://schemas.openxmlformats.org/drawingml/2006/main">
            <a:pPr algn="l">
              <a:defRPr sz="18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Analisa o código sem iniciar a aplicação</a:t>
            </a:r>
          </a:p>
          <a:p xmlns:a="http://schemas.openxmlformats.org/drawingml/2006/main">
            <a:pPr algn="l">
              <a:defRPr sz="18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Gera relatórios JSON, SARIF e HTML</a:t>
            </a:r>
          </a:p>
          <a:p xmlns:a="http://schemas.openxmlformats.org/drawingml/2006/main">
            <a:pPr algn="l">
              <a:defRPr sz="18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Versão usada no laboratório: 1.0.0</a:t>
            </a:r>
          </a:p>
          <a:p xmlns:a="http://schemas.openxmlformats.org/drawingml/2006/main">
            <a:pPr algn="l">
              <a:defRPr sz="18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Licença indicada pelo projeto: LGPL-3.0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25A8A-2235-4165-A107-C05277C3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864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5"/>
                </a:solidFill>
                <a:latin typeface="Arial"/>
                <a:ea typeface="Arial"/>
                <a:cs typeface="Arial"/>
              </a:rPr>
              <a:t>O que ele procura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EF30D-E7F7-4F43-9292-8D7875D7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Padrões perigosos, como entrada do usuário enviada para HTML, comandos do sistema ou eval.</a:t>
            </a:r>
          </a:p>
        </p:txBody>
      </p:sp>
    </p:spTree>
    <p:extLst>
      <p:ext uri="{BB962C8B-B14F-4D97-AF65-F5344CB8AC3E}">
        <p14:creationId xmlns:p14="http://schemas.microsoft.com/office/powerpoint/2010/main" val="295111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EA900-19D7-4754-9B08-0699B408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E9429-8C56-4536-9EDF-28E8E519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Resultado real do njsscan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FEE75-5E17-4419-BF2D-BFDA4F1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231B8-E964-4145-9ED1-0EF1D3EB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44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4444"/>
                </a:solidFill>
                <a:latin typeface="Arial"/>
                <a:ea typeface="Arial"/>
                <a:cs typeface="Arial"/>
              </a:rPr>
              <a:t>Três alertas na versão insegura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b35a0c178433d"/>
          <a:stretch xmlns:a="http://schemas.openxmlformats.org/drawingml/2006/main"/>
        </p:blipFill>
        <p:spPr>
          <a:xfrm xmlns:a="http://schemas.openxmlformats.org/drawingml/2006/main">
            <a:off x="3580039" y="1714500"/>
            <a:ext cx="5031921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87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C1222-F314-49EB-BB93-EE5556F6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D7551-BAE7-4B2A-968C-D96014B1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Os três achados SAST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9D7A2-0C46-4267-A08D-C859E5DE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451FF-79B4-4CD0-9505-7B66699D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00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CWE-79: entrada do usuário enviada para HTML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CWE-78: entrada usada em comando do sistema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CWE-95: texto enviado para eval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Os três casos foram confirmados no código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Classificação: verdadeiros positivos</a:t>
            </a:r>
          </a:p>
        </p:txBody>
      </p:sp>
    </p:spTree>
    <p:extLst>
      <p:ext uri="{BB962C8B-B14F-4D97-AF65-F5344CB8AC3E}">
        <p14:creationId xmlns:p14="http://schemas.microsoft.com/office/powerpoint/2010/main" val="2132626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5F817-9425-498D-8DC4-8E8A0EDD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8E0A2-5CEB-4ECF-B8E6-7E488616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Como o código foi corrigido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73503-7EF6-40DB-A544-C581BD22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03E48-4A45-4A75-88D0-3D166E2D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00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Resposta HTML trocada por texto simples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Rota de comando passou a responder uma mensagem fixa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eval foi retirado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 soma agora aceita apenas números válidos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Nenhuma regra foi escondida ou ignorada</a:t>
            </a:r>
          </a:p>
        </p:txBody>
      </p:sp>
    </p:spTree>
    <p:extLst>
      <p:ext uri="{BB962C8B-B14F-4D97-AF65-F5344CB8AC3E}">
        <p14:creationId xmlns:p14="http://schemas.microsoft.com/office/powerpoint/2010/main" val="1568639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3B5B5-EACF-4DD9-95BE-743513A1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DC64B-0617-492B-92A6-36680E7C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npm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4440F-18EC-461E-BDE2-302D0B98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4C50F-2340-4744-89F0-9E615FA2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00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Ferramenta SCA do npm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Compara dependências com avisos conhecidos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Usa o package-lock.json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É simples de incluir no pipeline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Zero alertas conhecidos não significa risco zero</a:t>
            </a:r>
          </a:p>
        </p:txBody>
      </p:sp>
    </p:spTree>
    <p:extLst>
      <p:ext uri="{BB962C8B-B14F-4D97-AF65-F5344CB8AC3E}">
        <p14:creationId xmlns:p14="http://schemas.microsoft.com/office/powerpoint/2010/main" val="1384069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93BEC-BAFE-4B77-89B7-778189B9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8D706-E535-4108-AA04-D6765018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Resultado real do npm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34BFF-0B96-439E-8D04-E2ACC5E8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66CD3-D5FB-4B0D-95E2-72D99B72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4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444"/>
                </a:solidFill>
                <a:latin typeface="Arial"/>
                <a:ea typeface="Arial"/>
                <a:cs typeface="Arial"/>
              </a:rPr>
              <a:t>lodash 4.17.15: um pacote com severidade HIGH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ad4b16414435a"/>
          <a:stretch xmlns:a="http://schemas.openxmlformats.org/drawingml/2006/main"/>
        </p:blipFill>
        <p:spPr>
          <a:xfrm xmlns:a="http://schemas.openxmlformats.org/drawingml/2006/main">
            <a:off x="2068513" y="1714500"/>
            <a:ext cx="8054975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524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2CB3A-556E-4402-9628-46C140AE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2B9E0-A47C-447E-B7E0-D80B265A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Leitura correta do resultado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CA20A-01F0-4E8E-98D7-55B471C8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6FE87-16C0-413F-818E-EF854725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00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O lockfile confirmou a versão vulnerável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O alerta de inventário é verdadeiro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Nem todo aviso é explorável pelas rotas do exemplo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 correção foi atualizar o lodash para 4.18.1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O projeto precisa ser testado depois da atualização</a:t>
            </a:r>
          </a:p>
        </p:txBody>
      </p:sp>
    </p:spTree>
    <p:extLst>
      <p:ext uri="{BB962C8B-B14F-4D97-AF65-F5344CB8AC3E}">
        <p14:creationId xmlns:p14="http://schemas.microsoft.com/office/powerpoint/2010/main" val="6822861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5303F-45F1-4369-B8B8-29ACC37A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C7E6F-26D4-4DDE-8F05-9746DF23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Datree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DDF02-FFF0-4CFB-AF26-B01C47AD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B4574-BD81-48ED-A91D-CB288F17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10001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Analisava arquivos Kubernetes antes do deploy</a:t>
            </a:r>
          </a:p>
          <a:p xmlns:a="http://schemas.openxmlformats.org/drawingml/2006/main">
            <a:pPr algn="l">
              <a:defRPr sz="187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Aplicava políticas sobre privilégios e recursos</a:t>
            </a:r>
          </a:p>
          <a:p xmlns:a="http://schemas.openxmlformats.org/drawingml/2006/main">
            <a:pPr algn="l">
              <a:defRPr sz="187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Projeto arquivado no GitHub</a:t>
            </a:r>
          </a:p>
          <a:p xmlns:a="http://schemas.openxmlformats.org/drawingml/2006/main">
            <a:pPr algn="l">
              <a:defRPr sz="187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Ainda ajuda no estudo, mas deixou de ser uma boa escolha para projetos novos</a:t>
            </a:r>
          </a:p>
          <a:p xmlns:a="http://schemas.openxmlformats.org/drawingml/2006/main">
            <a:pPr algn="l">
              <a:defRPr sz="187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Foi pesquisado, porém não foi executado no laboratório</a:t>
            </a:r>
          </a:p>
        </p:txBody>
      </p:sp>
    </p:spTree>
    <p:extLst>
      <p:ext uri="{BB962C8B-B14F-4D97-AF65-F5344CB8AC3E}">
        <p14:creationId xmlns:p14="http://schemas.microsoft.com/office/powerpoint/2010/main" val="1405165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35056-3E3B-451F-959B-8B882DE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86846-07C2-41BF-B173-C525B278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Exemplo de infraestrutura como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525C3-5363-401A-804F-BC473BE5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498E8-5E85-483D-8EE8-F0EAC6DA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10001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Arquivo inseguro: contêiner privilegiado e sem limites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Arquivo corrigido: sem privilégio elevado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Sistema de arquivos somente para leitura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Limites de CPU e memória definidos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 verificação acontece antes de chegar ao cluster</a:t>
            </a:r>
          </a:p>
        </p:txBody>
      </p:sp>
    </p:spTree>
    <p:extLst>
      <p:ext uri="{BB962C8B-B14F-4D97-AF65-F5344CB8AC3E}">
        <p14:creationId xmlns:p14="http://schemas.microsoft.com/office/powerpoint/2010/main" val="6418129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F8AD6-6C05-4AB4-963E-8D182E6A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0438A-D1E5-4091-A354-D223CD4C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StackHawk e HawkScan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AF1FD-7DD9-4030-AF38-CE802C4B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13D4C-49A7-4AE5-A85A-46CF696D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10001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Ferramenta DAST para testar a aplicação em execução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O scanner tem base ligada ao OWASP ZAP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Precisa conhecer o endereço autorizado do teste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Rotas protegidas exigem configuração de login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 plataforma possui partes comerciais</a:t>
            </a:r>
          </a:p>
        </p:txBody>
      </p:sp>
    </p:spTree>
    <p:extLst>
      <p:ext uri="{BB962C8B-B14F-4D97-AF65-F5344CB8AC3E}">
        <p14:creationId xmlns:p14="http://schemas.microsoft.com/office/powerpoint/2010/main" val="6508463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C29E4-9DBD-4C4B-803D-7B6F7E6D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FC547-2706-4B6E-B24E-DCEEF0B8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Como funciona um teste DAST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2A30E-16B7-4F5D-8E4A-6C67C43D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98968-411D-4D22-AED8-6B24542F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00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Inicia a aplicação de teste</a:t>
            </a:r>
          </a:p>
          <a:p xmlns:a="http://schemas.openxmlformats.org/drawingml/2006/main">
            <a:pPr algn="l">
              <a:defRPr sz="21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Define o endereço permitido</a:t>
            </a:r>
          </a:p>
          <a:p xmlns:a="http://schemas.openxmlformats.org/drawingml/2006/main">
            <a:pPr algn="l">
              <a:defRPr sz="21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Envia requisições para as rotas</a:t>
            </a:r>
          </a:p>
          <a:p xmlns:a="http://schemas.openxmlformats.org/drawingml/2006/main">
            <a:pPr algn="l">
              <a:defRPr sz="21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Revisa os alertas encontrados</a:t>
            </a:r>
          </a:p>
          <a:p xmlns:a="http://schemas.openxmlformats.org/drawingml/2006/main">
            <a:pPr algn="l">
              <a:defRPr sz="21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Corrige e executa novamente</a:t>
            </a:r>
          </a:p>
        </p:txBody>
      </p:sp>
    </p:spTree>
    <p:extLst>
      <p:ext uri="{BB962C8B-B14F-4D97-AF65-F5344CB8AC3E}">
        <p14:creationId xmlns:p14="http://schemas.microsoft.com/office/powerpoint/2010/main" val="13814831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3A9DD-A6FB-4C1D-A946-68DF1E8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30B2F-D0E9-49AD-B45C-4F44801F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Ambiente do laboratório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24DD7-447A-4D27-A6BC-DD7681CE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76419-0848-4432-AB48-44C9A52C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4762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Docker Desktop com WSL 2</a:t>
            </a:r>
          </a:p>
          <a:p xmlns:a="http://schemas.openxmlformats.org/drawingml/2006/main">
            <a:pPr algn="l">
              <a:defRPr sz="18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Imagem: cp01-grupo3:1.0</a:t>
            </a:r>
          </a:p>
          <a:p xmlns:a="http://schemas.openxmlformats.org/drawingml/2006/main">
            <a:pPr algn="l">
              <a:defRPr sz="18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Node.js, Python, njsscan, Semgrep e npm</a:t>
            </a:r>
          </a:p>
          <a:p xmlns:a="http://schemas.openxmlformats.org/drawingml/2006/main">
            <a:pPr algn="l">
              <a:defRPr sz="180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Duas versões da mesma aplicação própria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4b35d97c0446b"/>
          <a:stretch xmlns:a="http://schemas.openxmlformats.org/drawingml/2006/main"/>
        </p:blipFill>
        <p:spPr>
          <a:xfrm xmlns:a="http://schemas.openxmlformats.org/drawingml/2006/main">
            <a:off x="5905500" y="1773198"/>
            <a:ext cx="5429250" cy="30734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760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51705-079E-457D-AE66-A3BA8D3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2C081-6298-4081-ABFC-C4FEDA87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Versões e imagem do Docker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BD257-1A48-41C4-BCD6-3ACB85AE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4751dee014a50"/>
          <a:stretch xmlns:a="http://schemas.openxmlformats.org/drawingml/2006/main"/>
        </p:blipFill>
        <p:spPr>
          <a:xfrm xmlns:a="http://schemas.openxmlformats.org/drawingml/2006/main">
            <a:off x="1276607" y="1190625"/>
            <a:ext cx="9638785" cy="4619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939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7CFF3-C218-4BBD-BAC8-CB383FA6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2D472-DEBF-47B7-A935-91B8F764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Política do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B5B96-6C81-4FB4-AFA0-3B652C43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04692-C1FE-4867-A946-118D6B5E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00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SAST ERROR é tratado como HIGH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SCA HIGH ou CRITICAL bloqueia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Sem alertas nesses níveis, a versão passa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 política é simples e foi criada para o laboratório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O código de saída permite bloquear o pipeline</a:t>
            </a:r>
          </a:p>
        </p:txBody>
      </p:sp>
    </p:spTree>
    <p:extLst>
      <p:ext uri="{BB962C8B-B14F-4D97-AF65-F5344CB8AC3E}">
        <p14:creationId xmlns:p14="http://schemas.microsoft.com/office/powerpoint/2010/main" val="18536534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70100-6582-478A-BDD5-DE93A9CB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86F45-51BB-4B06-A7F9-90E51A28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Versão insegura bloqueada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36EE7-B3FA-4F8A-9E0F-C2271A69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CE189-22F1-4622-ADF0-9E0BB62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44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4444"/>
                </a:solidFill>
                <a:latin typeface="Arial"/>
                <a:ea typeface="Arial"/>
                <a:cs typeface="Arial"/>
              </a:rPr>
              <a:t>3 alertas SAST + 1 pacote HIGH = BLOQUEADO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0f1f2e0fb4638"/>
          <a:stretch xmlns:a="http://schemas.openxmlformats.org/drawingml/2006/main"/>
        </p:blipFill>
        <p:spPr>
          <a:xfrm xmlns:a="http://schemas.openxmlformats.org/drawingml/2006/main">
            <a:off x="2849187" y="1714500"/>
            <a:ext cx="6493625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61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C70CA-889F-4A01-968B-A4D7D605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714CE-D470-4920-8501-7C2B02D7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Versão corrigida aprovada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6DBD2-4A12-4C81-9765-195DBC64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569C5-4BF0-453C-ABD6-507A3E35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2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25D"/>
                </a:solidFill>
                <a:latin typeface="Arial"/>
                <a:ea typeface="Arial"/>
                <a:cs typeface="Arial"/>
              </a:rPr>
              <a:t>Nenhum alerta nos níveis usados pelo gate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0e085630b46bc"/>
          <a:stretch xmlns:a="http://schemas.openxmlformats.org/drawingml/2006/main"/>
        </p:blipFill>
        <p:spPr>
          <a:xfrm xmlns:a="http://schemas.openxmlformats.org/drawingml/2006/main">
            <a:off x="2647379" y="1714500"/>
            <a:ext cx="6897243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872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99667-0742-4B40-B561-577093D3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C4C8A-A190-4BD2-99AE-42623619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Dependências depois da correção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F9428-DD27-4B38-AAB6-6D8554A3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8C646-2236-49B4-973F-1B3C85DF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2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825D"/>
                </a:solidFill>
                <a:latin typeface="Arial"/>
                <a:ea typeface="Arial"/>
                <a:cs typeface="Arial"/>
              </a:rPr>
              <a:t>npm audit: zero vulnerabilidades conhecidas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43517c3264bce"/>
          <a:stretch xmlns:a="http://schemas.openxmlformats.org/drawingml/2006/main"/>
        </p:blipFill>
        <p:spPr>
          <a:xfrm xmlns:a="http://schemas.openxmlformats.org/drawingml/2006/main">
            <a:off x="666750" y="2507439"/>
            <a:ext cx="10858500" cy="25098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974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B24A6-C8FE-4C1B-9790-3F46B8E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D808D-0C59-43A8-A54B-C87591B9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Comparação das ferramentas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BF1DB-54D4-4708-8716-DF5ABEDB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56A0D-4D14-47D7-9EC2-0E971633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00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njsscan: encontra padrões perigosos no código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npm audit: encontra dependências com avisos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Datree: revisa políticas de Kubernetes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StackHawk: observa a aplicação funcionando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As ferramentas se completam</a:t>
            </a:r>
          </a:p>
        </p:txBody>
      </p:sp>
    </p:spTree>
    <p:extLst>
      <p:ext uri="{BB962C8B-B14F-4D97-AF65-F5344CB8AC3E}">
        <p14:creationId xmlns:p14="http://schemas.microsoft.com/office/powerpoint/2010/main" val="16069413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44817-135B-477E-8F29-00CCA540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AB3FF-D184-489B-A8F6-867CF68D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O que aprendemos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53894-AF7F-4514-A648-FFEA4489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614DB-7FA7-49EA-86B7-7465E4A6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1000125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Código e dependências exigem correções diferentes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O scanner aponta o local; a equipe confirma o risco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Um gate transforma a política em uma decisão clara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A nova execução comprova a correção analisada</a:t>
            </a:r>
          </a:p>
          <a:p xmlns:a="http://schemas.openxmlformats.org/drawingml/2006/main">
            <a:pPr algn="l">
              <a:defRPr sz="1950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Outros testes e a revisão humana continuam necessários</a:t>
            </a:r>
          </a:p>
        </p:txBody>
      </p:sp>
    </p:spTree>
    <p:extLst>
      <p:ext uri="{BB962C8B-B14F-4D97-AF65-F5344CB8AC3E}">
        <p14:creationId xmlns:p14="http://schemas.microsoft.com/office/powerpoint/2010/main" val="555944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A5269-35AF-44F5-9D5A-17E5A23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4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0FAF1-CFD9-40FB-9050-D1D24C81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D"/>
                </a:solidFill>
                <a:latin typeface="Arial"/>
                <a:ea typeface="Arial"/>
                <a:cs typeface="Arial"/>
              </a:rPr>
              <a:t>Demonstração e perguntas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54BB0-8DBE-4AD2-BA79-E34C60A2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171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F1CF9-EA83-4EA6-8D25-F5A6F510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00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Executar: docker compose run --rm lab inseguro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Mostrar o bloqueio e os três achados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Executar: docker compose run --rm lab corrigido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Mostrar a aprovação e explicar as correções</a:t>
            </a:r>
          </a:p>
          <a:p xmlns:a="http://schemas.openxmlformats.org/drawingml/2006/main">
            <a:pPr algn="l">
              <a:defRPr sz="2025" b="0">
                <a:solidFill>
                  <a:srgbClr val="1720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02C"/>
                </a:solidFill>
                <a:latin typeface="Arial"/>
                <a:ea typeface="Arial"/>
                <a:cs typeface="Arial"/>
              </a:rPr>
              <a:t>• Perguntas</a:t>
            </a:r>
          </a:p>
        </p:txBody>
      </p:sp>
    </p:spTree>
    <p:extLst>
      <p:ext uri="{BB962C8B-B14F-4D97-AF65-F5344CB8AC3E}">
        <p14:creationId xmlns:p14="http://schemas.microsoft.com/office/powerpoint/2010/main" val="1891524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2026-09-16T20:03:59.8050000Z</dcterms:created>
  <dcterms:modified xsi:type="dcterms:W3CDTF">2026-09-16T20:03:59.8050000Z</dcterms:modified>
</coreProperties>
</file>