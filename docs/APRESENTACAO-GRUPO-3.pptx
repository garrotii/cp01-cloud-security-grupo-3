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f7cf0113fd4f47" /><Relationship Type="http://schemas.openxmlformats.org/officeDocument/2006/relationships/extended-properties" Target="/docProps/app.xml" Id="R79ac73a07e3d4dfb" /><Relationship Type="http://schemas.openxmlformats.org/officeDocument/2006/relationships/officeDocument" Target="/ppt/presentation.xml" Id="Rf70e1a69ba884f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8481a933394ce5"/>
  </p:sldMasterIdLst>
  <p:notesMasterIdLst>
    <p:notesMasterId xmlns:r="http://schemas.openxmlformats.org/officeDocument/2006/relationships" r:id="R6ccd7bea6ce040f2"/>
  </p:notesMasterIdLst>
  <p:sldIdLst>
    <p:sldId xmlns:r="http://schemas.openxmlformats.org/officeDocument/2006/relationships" id="256" r:id="R48713b78282f4d86"/>
    <p:sldId xmlns:r="http://schemas.openxmlformats.org/officeDocument/2006/relationships" id="257" r:id="R86da1f4cf6894440"/>
    <p:sldId xmlns:r="http://schemas.openxmlformats.org/officeDocument/2006/relationships" id="258" r:id="Rcd92eb51c2b14d74"/>
    <p:sldId xmlns:r="http://schemas.openxmlformats.org/officeDocument/2006/relationships" id="259" r:id="Rbaaabee581e94d23"/>
    <p:sldId xmlns:r="http://schemas.openxmlformats.org/officeDocument/2006/relationships" id="260" r:id="R71ea7f3afaa04047"/>
    <p:sldId xmlns:r="http://schemas.openxmlformats.org/officeDocument/2006/relationships" id="261" r:id="Rfbe53ff75a4f410f"/>
    <p:sldId xmlns:r="http://schemas.openxmlformats.org/officeDocument/2006/relationships" id="262" r:id="R62ccdca1cdea44e5"/>
    <p:sldId xmlns:r="http://schemas.openxmlformats.org/officeDocument/2006/relationships" id="263" r:id="R884f537aa45f482c"/>
    <p:sldId xmlns:r="http://schemas.openxmlformats.org/officeDocument/2006/relationships" id="264" r:id="R417609887a75466c"/>
    <p:sldId xmlns:r="http://schemas.openxmlformats.org/officeDocument/2006/relationships" id="265" r:id="R811367dec5be4c93"/>
    <p:sldId xmlns:r="http://schemas.openxmlformats.org/officeDocument/2006/relationships" id="266" r:id="Raf38c371e39745e2"/>
    <p:sldId xmlns:r="http://schemas.openxmlformats.org/officeDocument/2006/relationships" id="267" r:id="R178fdc771b99456f"/>
    <p:sldId xmlns:r="http://schemas.openxmlformats.org/officeDocument/2006/relationships" id="268" r:id="R1d88cc5ea20c427e"/>
    <p:sldId xmlns:r="http://schemas.openxmlformats.org/officeDocument/2006/relationships" id="269" r:id="R1436bd8156114813"/>
    <p:sldId xmlns:r="http://schemas.openxmlformats.org/officeDocument/2006/relationships" id="270" r:id="Rb398815cad304c61"/>
    <p:sldId xmlns:r="http://schemas.openxmlformats.org/officeDocument/2006/relationships" id="271" r:id="Rc7d284d7500b4bc3"/>
    <p:sldId xmlns:r="http://schemas.openxmlformats.org/officeDocument/2006/relationships" id="272" r:id="R0cfa629ee2a143db"/>
    <p:sldId xmlns:r="http://schemas.openxmlformats.org/officeDocument/2006/relationships" id="273" r:id="R4a4a01f28a754099"/>
    <p:sldId xmlns:r="http://schemas.openxmlformats.org/officeDocument/2006/relationships" id="274" r:id="R08c07a1ef18b4043"/>
    <p:sldId xmlns:r="http://schemas.openxmlformats.org/officeDocument/2006/relationships" id="275" r:id="Rcaa216a289724641"/>
    <p:sldId xmlns:r="http://schemas.openxmlformats.org/officeDocument/2006/relationships" id="276" r:id="R5abafce5dc6a4e23"/>
    <p:sldId xmlns:r="http://schemas.openxmlformats.org/officeDocument/2006/relationships" id="277" r:id="R1430cac3ae61498b"/>
    <p:sldId xmlns:r="http://schemas.openxmlformats.org/officeDocument/2006/relationships" id="278" r:id="Re9d43a4f897a4b61"/>
    <p:sldId xmlns:r="http://schemas.openxmlformats.org/officeDocument/2006/relationships" id="279" r:id="R43befea6a33b4f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50a8d0e42a4e22" /><Relationship Type="http://schemas.openxmlformats.org/officeDocument/2006/relationships/slideMaster" Target="/ppt/slideMasters/slideMaster1.xml" Id="R5c8481a933394ce5" /><Relationship Type="http://schemas.openxmlformats.org/officeDocument/2006/relationships/notesMaster" Target="/ppt/notesMasters/notesMaster1.xml" Id="R6ccd7bea6ce040f2" /><Relationship Type="http://schemas.openxmlformats.org/officeDocument/2006/relationships/presProps" Target="/ppt/presProps.xml" Id="Rbb16e03ea6444a92" /><Relationship Type="http://schemas.openxmlformats.org/officeDocument/2006/relationships/tableStyles" Target="/ppt/tableStyles.xml" Id="Rd8bdcbb87f054b4d" /><Relationship Type="http://schemas.openxmlformats.org/officeDocument/2006/relationships/slide" Target="/ppt/slides/slide1.xml" Id="R48713b78282f4d86" /><Relationship Type="http://schemas.openxmlformats.org/officeDocument/2006/relationships/slide" Target="/ppt/slides/slide2.xml" Id="R86da1f4cf6894440" /><Relationship Type="http://schemas.openxmlformats.org/officeDocument/2006/relationships/slide" Target="/ppt/slides/slide3.xml" Id="Rcd92eb51c2b14d74" /><Relationship Type="http://schemas.openxmlformats.org/officeDocument/2006/relationships/slide" Target="/ppt/slides/slide4.xml" Id="Rbaaabee581e94d23" /><Relationship Type="http://schemas.openxmlformats.org/officeDocument/2006/relationships/slide" Target="/ppt/slides/slide5.xml" Id="R71ea7f3afaa04047" /><Relationship Type="http://schemas.openxmlformats.org/officeDocument/2006/relationships/slide" Target="/ppt/slides/slide6.xml" Id="Rfbe53ff75a4f410f" /><Relationship Type="http://schemas.openxmlformats.org/officeDocument/2006/relationships/slide" Target="/ppt/slides/slide7.xml" Id="R62ccdca1cdea44e5" /><Relationship Type="http://schemas.openxmlformats.org/officeDocument/2006/relationships/slide" Target="/ppt/slides/slide8.xml" Id="R884f537aa45f482c" /><Relationship Type="http://schemas.openxmlformats.org/officeDocument/2006/relationships/slide" Target="/ppt/slides/slide9.xml" Id="R417609887a75466c" /><Relationship Type="http://schemas.openxmlformats.org/officeDocument/2006/relationships/slide" Target="/ppt/slides/slide10.xml" Id="R811367dec5be4c93" /><Relationship Type="http://schemas.openxmlformats.org/officeDocument/2006/relationships/slide" Target="/ppt/slides/slide11.xml" Id="Raf38c371e39745e2" /><Relationship Type="http://schemas.openxmlformats.org/officeDocument/2006/relationships/slide" Target="/ppt/slides/slide12.xml" Id="R178fdc771b99456f" /><Relationship Type="http://schemas.openxmlformats.org/officeDocument/2006/relationships/slide" Target="/ppt/slides/slide13.xml" Id="R1d88cc5ea20c427e" /><Relationship Type="http://schemas.openxmlformats.org/officeDocument/2006/relationships/slide" Target="/ppt/slides/slide14.xml" Id="R1436bd8156114813" /><Relationship Type="http://schemas.openxmlformats.org/officeDocument/2006/relationships/slide" Target="/ppt/slides/slide15.xml" Id="Rb398815cad304c61" /><Relationship Type="http://schemas.openxmlformats.org/officeDocument/2006/relationships/slide" Target="/ppt/slides/slide16.xml" Id="Rc7d284d7500b4bc3" /><Relationship Type="http://schemas.openxmlformats.org/officeDocument/2006/relationships/slide" Target="/ppt/slides/slide17.xml" Id="R0cfa629ee2a143db" /><Relationship Type="http://schemas.openxmlformats.org/officeDocument/2006/relationships/slide" Target="/ppt/slides/slide18.xml" Id="R4a4a01f28a754099" /><Relationship Type="http://schemas.openxmlformats.org/officeDocument/2006/relationships/slide" Target="/ppt/slides/slide19.xml" Id="R08c07a1ef18b4043" /><Relationship Type="http://schemas.openxmlformats.org/officeDocument/2006/relationships/slide" Target="/ppt/slides/slide20.xml" Id="Rcaa216a289724641" /><Relationship Type="http://schemas.openxmlformats.org/officeDocument/2006/relationships/slide" Target="/ppt/slides/slide21.xml" Id="R5abafce5dc6a4e23" /><Relationship Type="http://schemas.openxmlformats.org/officeDocument/2006/relationships/slide" Target="/ppt/slides/slide22.xml" Id="R1430cac3ae61498b" /><Relationship Type="http://schemas.openxmlformats.org/officeDocument/2006/relationships/slide" Target="/ppt/slides/slide23.xml" Id="Re9d43a4f897a4b61" /><Relationship Type="http://schemas.openxmlformats.org/officeDocument/2006/relationships/slide" Target="/ppt/slides/slide24.xml" Id="R43befea6a33b4f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1bc551640949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d2fc1006f14a7e" /><Relationship Type="http://schemas.openxmlformats.org/officeDocument/2006/relationships/notesMaster" Target="/ppt/notesMasters/notesMaster1.xml" Id="R5d337ee7b2954b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a556e754504f48" /><Relationship Type="http://schemas.openxmlformats.org/officeDocument/2006/relationships/notesMaster" Target="/ppt/notesMasters/notesMaster1.xml" Id="Rdf10a6409cf348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be2933f26d4eb2" /><Relationship Type="http://schemas.openxmlformats.org/officeDocument/2006/relationships/notesMaster" Target="/ppt/notesMasters/notesMaster1.xml" Id="R5b35cd78bd7c41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a84249a42014d70" /><Relationship Type="http://schemas.openxmlformats.org/officeDocument/2006/relationships/notesMaster" Target="/ppt/notesMasters/notesMaster1.xml" Id="R46493696886d45c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58304052724835" /><Relationship Type="http://schemas.openxmlformats.org/officeDocument/2006/relationships/notesMaster" Target="/ppt/notesMasters/notesMaster1.xml" Id="Rd021d58a2fd549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e900ac15911474f" /><Relationship Type="http://schemas.openxmlformats.org/officeDocument/2006/relationships/notesMaster" Target="/ppt/notesMasters/notesMaster1.xml" Id="R25186b91b15048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e74577b0bd4f13" /><Relationship Type="http://schemas.openxmlformats.org/officeDocument/2006/relationships/notesMaster" Target="/ppt/notesMasters/notesMaster1.xml" Id="R320f32931e7745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9815db6b8c4dcc" /><Relationship Type="http://schemas.openxmlformats.org/officeDocument/2006/relationships/notesMaster" Target="/ppt/notesMasters/notesMaster1.xml" Id="R96ddc55ffe9241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b7018c152cf4bd9" /><Relationship Type="http://schemas.openxmlformats.org/officeDocument/2006/relationships/notesMaster" Target="/ppt/notesMasters/notesMaster1.xml" Id="R52cd30a7e098496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23fc02f8314e1e" /><Relationship Type="http://schemas.openxmlformats.org/officeDocument/2006/relationships/notesMaster" Target="/ppt/notesMasters/notesMaster1.xml" Id="Re8230b4992604cb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95a556e7cc4261" /><Relationship Type="http://schemas.openxmlformats.org/officeDocument/2006/relationships/notesMaster" Target="/ppt/notesMasters/notesMaster1.xml" Id="Rc671e208daa7451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c216ef674f14e74" /><Relationship Type="http://schemas.openxmlformats.org/officeDocument/2006/relationships/notesMaster" Target="/ppt/notesMasters/notesMaster1.xml" Id="R830466503cb844c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c5d3c5171ef482f" /><Relationship Type="http://schemas.openxmlformats.org/officeDocument/2006/relationships/notesMaster" Target="/ppt/notesMasters/notesMaster1.xml" Id="Rbdb8a1264b364b0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bee485a1ad24856" /><Relationship Type="http://schemas.openxmlformats.org/officeDocument/2006/relationships/notesMaster" Target="/ppt/notesMasters/notesMaster1.xml" Id="Rdcfd9048d66b4bc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244145c184c468c" /><Relationship Type="http://schemas.openxmlformats.org/officeDocument/2006/relationships/notesMaster" Target="/ppt/notesMasters/notesMaster1.xml" Id="R19224f1ca45d484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ce4e3f8cfca4558" /><Relationship Type="http://schemas.openxmlformats.org/officeDocument/2006/relationships/notesMaster" Target="/ppt/notesMasters/notesMaster1.xml" Id="R8f7323cf62844a0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5a15abc4b8d4a59" /><Relationship Type="http://schemas.openxmlformats.org/officeDocument/2006/relationships/notesMaster" Target="/ppt/notesMasters/notesMaster1.xml" Id="R128bbfc6423b49a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a08e8c6c70545b6" /><Relationship Type="http://schemas.openxmlformats.org/officeDocument/2006/relationships/notesMaster" Target="/ppt/notesMasters/notesMaster1.xml" Id="R26158af0de1244b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5c78d47f7684d57" /><Relationship Type="http://schemas.openxmlformats.org/officeDocument/2006/relationships/notesMaster" Target="/ppt/notesMasters/notesMaster1.xml" Id="Raeb8119ebfe54c4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524adc57ee942b4" /><Relationship Type="http://schemas.openxmlformats.org/officeDocument/2006/relationships/notesMaster" Target="/ppt/notesMasters/notesMaster1.xml" Id="R67fd2f0a86ef4b8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97128708f48461e" /><Relationship Type="http://schemas.openxmlformats.org/officeDocument/2006/relationships/notesMaster" Target="/ppt/notesMasters/notesMaster1.xml" Id="Re0c76b1eb0ba4ec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a520551276c4a85" /><Relationship Type="http://schemas.openxmlformats.org/officeDocument/2006/relationships/notesMaster" Target="/ppt/notesMasters/notesMaster1.xml" Id="R01b216b482454fe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dc97d20c302480f" /><Relationship Type="http://schemas.openxmlformats.org/officeDocument/2006/relationships/notesMaster" Target="/ppt/notesMasters/notesMaster1.xml" Id="R73b4c32479c246a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a6715540ccd49cb" /><Relationship Type="http://schemas.openxmlformats.org/officeDocument/2006/relationships/notesMaster" Target="/ppt/notesMasters/notesMaster1.xml" Id="Rb6d7d626db7949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Leonardo. Apresentar a dupla, a turma 2TDCPF e o tema. Explicar que o laboratório usou duas categorias diferentes. O texto segue as ferramentas da tabela ajustada do professor.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Leonardo. Apresentar a sequência. O ambiente deve estar preparado antes da aula. O total é de 30 minutos, incluindo as perguntas.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Leonardo. Explicar cada sigla em linguagem simples. SAST lê o código. SCA olha componentes de terceiros. IaC verifica configuração. DAST faz requisições ao alvo funcionando.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https://top10.owasp.org/2025/0x00_2025-Introduction/</a:t>
            </a:r>
          </a:p>
          <a:p xmlns:a="http://schemas.openxmlformats.org/drawingml/2006/main">
            <a:r>
              <a:t>https://csrc.nist.gov/pubs/sp/800/218/final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Leonardo. Usar o exemplo para explicar a diferença. Atualizar a biblioteca não retira o eval escrito pela equipe. Retirar o eval não atualiza o lodash.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https://github.com/ajinabraham/njsscan</a:t>
            </a:r>
          </a:p>
          <a:p xmlns:a="http://schemas.openxmlformats.org/drawingml/2006/main">
            <a:r>
              <a:t>https://docs.npmjs.com/cli/v11/commands/npm-audit/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Leonardo. Explicar shift-left como antecipar testes. SBOM é uma lista de componentes e versões. Geramos CycloneDX com npm sbom. A lista não é um teste de exploração e não corrige falhas.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https://docs.npmjs.com/cli/v11/commands/npm-sbom/</a:t>
            </a:r>
          </a:p>
          <a:p xmlns:a="http://schemas.openxmlformats.org/drawingml/2006/main">
            <a:r>
              <a:t>https://csrc.nist.gov/pubs/sp/800/218/final</a:t>
            </a:r>
          </a:p>
          <a:p xmlns:a="http://schemas.openxmlformats.org/drawingml/2006/main">
            <a:r>
              <a:t>https://top10.owasp.org/2025/0x00_2025-Introduction/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Leonardo. Explicar o papel do libsast e do Semgrep. O repositório nasceu em 2020. A ferramenta teve atualização em agosto de 2026 depois de um intervalo longo. Não generalizar cobertura para outras linguagens que não testamos.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https://github.com/ajinabraham/njsscan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Leonardo. Ligar cada regra ao código do alvo. O grupo revisou as três como verdadeiros positivos. ERROR é um nível do njsscan, não uma nota CVSS. Nosso mapeamento OWASP atual é A05:2025 Injection.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https://github.com/ajinabraham/njsscan</a:t>
            </a:r>
          </a:p>
          <a:p xmlns:a="http://schemas.openxmlformats.org/drawingml/2006/main">
            <a:r>
              <a:t>https://cwe.mitre.org/data/definitions/78.html</a:t>
            </a:r>
          </a:p>
          <a:p xmlns:a="http://schemas.openxmlformats.org/drawingml/2006/main">
            <a:r>
              <a:t>https://cwe.mitre.org/data/definitions/79.html</a:t>
            </a:r>
          </a:p>
          <a:p xmlns:a="http://schemas.openxmlformats.org/drawingml/2006/main">
            <a:r>
              <a:t>https://cwe.mitre.org/data/definitions/95.html</a:t>
            </a:r>
          </a:p>
          <a:p xmlns:a="http://schemas.openxmlformats.org/drawingml/2006/main">
            <a:r>
              <a:t>https://top10.owasp.org/2025/0x00_2025-Introduction/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Leonardo. Contar o problema real do teste. A ponte mantém as regras e os exportadores oficiais. O relatório registra a adaptação. Recomendar o container Linux para os colegas. Três alertas num alvo intencionalmente falho não medem a qualidade em qualquer projeto.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https://github.com/ajinabraham/njsscan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Leonardo. Explicar que npm audit não procura o eval no nosso código. O npm CLI é mantido por npm, Inc. e colaboradores. As dependências da própria CLI têm suas licenças.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https://docs.npmjs.com/cli/v11/commands/npm-audit/</a:t>
            </a:r>
          </a:p>
          <a:p xmlns:a="http://schemas.openxmlformats.org/drawingml/2006/main">
            <a:r>
              <a:t>https://docs.npmjs.com/cli/v6/using-npm/changelog/</a:t>
            </a:r>
          </a:p>
          <a:p xmlns:a="http://schemas.openxmlformats.org/drawingml/2006/main">
            <a:r>
              <a:t>https://github.com/npm/cli/blob/latest/LICENSE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Leonardo. Explicar a lista via. Na data do teste havia seis avisos diretos para o pacote. Um deles mais recente era CVE-2026-4800, com CVSS 8,1. O lockfile confirma a versão. Nosso alvo usa chunk, e não demonstramos exploração das funções afetadas.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https://docs.npmjs.com/cli/v11/commands/npm-audit/</a:t>
            </a:r>
          </a:p>
          <a:p xmlns:a="http://schemas.openxmlformats.org/drawingml/2006/main">
            <a:r>
              <a:t>https://github.com/advisories/GHSA-p6mc-m468-83gw</a:t>
            </a:r>
          </a:p>
          <a:p xmlns:a="http://schemas.openxmlformats.org/drawingml/2006/main">
            <a:r>
              <a:t>https://github.com/advisories/GHSA-r5fr-rjxr-66jc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Aquiles. Explicar IaC com um arquivo que descreve um recurso Kubernetes. Datree é específico a esse contexto, não um verificador de qualquer arquivo de infraestrutura. Não houve execução no nosso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https://github.com/datreeio/datree</a:t>
            </a:r>
          </a:p>
          <a:p xmlns:a="http://schemas.openxmlformats.org/drawingml/2006/main">
            <a:r>
              <a:t>https://hub.datree.io/cli/cli-arguments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Aquiles. Explicar os campos de forma simples: modo privilegiado, usuário root, rede do host e tag latest. A versão melhorada reduz permissões, mas não foi testada com Datree nem aplicada a um cluster.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https://github.com/datreeio/datree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Aquiles. Explicar por que estrelas não garantem manutenção. Para uso atual, seria preciso avaliar uma ferramenta mantida. Substituições da atividade dependem do professor. Não existem tempo medido e taxa de falsos positivos do Datree no nosso trabalho.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https://github.com/datreeio/datree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Aquiles. Explicar análise dinâmica. A configuração influencia a cobertura. A aplicação deve estar funcionando num ambiente adequado. O fornecedor alerta que testes ativos podem alterar dados do alvo. Não executamos esses testes.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https://docs.stackhawk.com/hawkscan/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Aquiles. A origem em ZAP não torna todo o produto open source. A versão documentada é HawkScan 6.4.0. Não há chave ou dados de conta no repositório. Não inventamos resultados e medidas. A diferença com a regra geral da atividade deve ser discutida com o professor.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https://docs.stackhawk.com/hawkscan/</a:t>
            </a:r>
          </a:p>
          <a:p xmlns:a="http://schemas.openxmlformats.org/drawingml/2006/main">
            <a:r>
              <a:t>https://docs.stackhawk.com/stackhawk-cli/</a:t>
            </a:r>
          </a:p>
          <a:p xmlns:a="http://schemas.openxmlformats.org/drawingml/2006/main">
            <a:r>
              <a:t>https://www.stackhawk.com/blog/stackhawk-announces-hawkscan-test-engine/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 e Aquiles. Começar o bloco de 12 minutos. Os colegas devem preparar a imagem antes da aula. O Dockerfile e Compose não foram executados do zero na preparação porque Docker não estava instalado. Esse teste precisa acontecer antes da apresentação.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Leonardo. Executar com a turma. O código 1 é esperado no alvo inseguro. O print é um resumo da execução local real, não um build do GitHub. O fluxo da plataforma precisa ser demonstrado pelos registros da própria plataforma.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 e Aquiles. Pedir que a turma encontre uma das regras no JSON. Explicar o caminho da entrada até a operação. Não generalizar o 0% de falsos positivos observado em três exemplos intencionais.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https://cwe.mitre.org/data/definitions/78.html</a:t>
            </a:r>
          </a:p>
          <a:p xmlns:a="http://schemas.openxmlformats.org/drawingml/2006/main">
            <a:r>
              <a:t>https://cwe.mitre.org/data/definitions/79.html</a:t>
            </a:r>
          </a:p>
          <a:p xmlns:a="http://schemas.openxmlformats.org/drawingml/2006/main">
            <a:r>
              <a:t>https://cwe.mitre.org/data/definitions/95.html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 e Aquiles. Mostrar as diferenças dos dois arquivos app.js e dos lockfiles. Nenhum alerta foi suprimido para fazer o gate passar. A atualização deve ser revista sempre que surgirem novos avisos.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 e Aquiles. Executar a versão corrigida com a turma. Resultado registrado em 16/09/2026. A base de avisos pode mudar. Não chamar ausência de alertas de prova completa de segurança. Mostrar os builds vermelho e verde do GitHub se já tiverem sido executados.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 e Aquiles. Dar tempo para os colegas responderem e registrarem a própria execução. Gabarito: três ERROR, tratados como HIGH. CWE-95. A correção soma números validados, sem 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Aquiles. Explicar que as categorias se completam. Os tempos do nosso alvo não são uma comparação de desempenho entre quatro ferramentas. Só duas foram executadas.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https://github.com/ajinabraham/njsscan</a:t>
            </a:r>
          </a:p>
          <a:p xmlns:a="http://schemas.openxmlformats.org/drawingml/2006/main">
            <a:r>
              <a:t>https://docs.npmjs.com/cli/v11/commands/npm-audit/</a:t>
            </a:r>
          </a:p>
          <a:p xmlns:a="http://schemas.openxmlformats.org/drawingml/2006/main">
            <a:r>
              <a:t>https://github.com/datreeio/datree</a:t>
            </a:r>
          </a:p>
          <a:p xmlns:a="http://schemas.openxmlformats.org/drawingml/2006/main">
            <a:r>
              <a:t>https://docs.stackhawk.com/hawkscan/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Aquiles. Fechar em linguagem simples. Os integrantes precisam revisar e compreender o conteúdo. Não afirmar que Aquiles fez contribuições ou ensaios que ainda não ocorreram. A recomendação para um projeto atual deve considerar a manutenção das ferramentas.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https://csrc.nist.gov/pubs/sp/800/218/final</a:t>
            </a:r>
          </a:p>
          <a:p xmlns:a="http://schemas.openxmlformats.org/drawingml/2006/main">
            <a:r>
              <a:t>https://top10.owasp.org/2025/0x00_2025-Introduction/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Leonardo e Aquiles. Reservar dois minutos para perguntas. O PDF contém 29 fontes primárias, com URLs e datas de acesso.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https://github.com/ajinabraham/njsscan</a:t>
            </a:r>
          </a:p>
          <a:p xmlns:a="http://schemas.openxmlformats.org/drawingml/2006/main">
            <a:r>
              <a:t>https://docs.npmjs.com/cli/v11/commands/npm-audit/</a:t>
            </a:r>
          </a:p>
          <a:p xmlns:a="http://schemas.openxmlformats.org/drawingml/2006/main">
            <a:r>
              <a:t>https://github.com/datreeio/datree</a:t>
            </a:r>
          </a:p>
          <a:p xmlns:a="http://schemas.openxmlformats.org/drawingml/2006/main">
            <a:r>
              <a:t>https://docs.stackhawk.com/hawkscan/</a:t>
            </a:r>
          </a:p>
          <a:p xmlns:a="http://schemas.openxmlformats.org/drawingml/2006/main">
            <a:r>
              <a:t>https://top10.owasp.org/2025/0x00_2025-Introduction/</a:t>
            </a:r>
          </a:p>
          <a:p xmlns:a="http://schemas.openxmlformats.org/drawingml/2006/main">
            <a:r>
              <a:t>https://csrc.nist.gov/pubs/sp/800/218/final</a:t>
            </a:r>
          </a:p>
          <a:p xmlns:a="http://schemas.openxmlformats.org/drawingml/2006/main">
            <a:r>
              <a:t>https://cwe.mitre.org/data/definitions/78.html</a:t>
            </a:r>
          </a:p>
          <a:p xmlns:a="http://schemas.openxmlformats.org/drawingml/2006/main">
            <a:r>
              <a:t>https://cwe.mitre.org/data/definitions/79.html</a:t>
            </a:r>
          </a:p>
          <a:p xmlns:a="http://schemas.openxmlformats.org/drawingml/2006/main">
            <a:r>
              <a:t>https://cwe.mitre.org/data/definitions/95.html</a:t>
            </a:r>
          </a:p>
          <a:p xmlns:a="http://schemas.openxmlformats.org/drawingml/2006/main">
            <a:r>
              <a:t>https://github.com/advisories/GHSA-p6mc-m468-83gw</a:t>
            </a:r>
          </a:p>
          <a:p xmlns:a="http://schemas.openxmlformats.org/drawingml/2006/main">
            <a:r>
              <a:t>Acesso: 16/09/2026. Dados locais: relatórios versionados do grupo 3. Apoio de IA declarado em USO-DE-IA.md.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b3108ea0ff49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f9a7db2a7ed4280" /><Relationship Type="http://schemas.openxmlformats.org/officeDocument/2006/relationships/slideLayout" Target="/ppt/slideLayouts/slideLayout1.xml" Id="R0fa1440cb1494c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a1440cb1494c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7d5426b4646c0" /><Relationship Type="http://schemas.openxmlformats.org/officeDocument/2006/relationships/notesSlide" Target="/ppt/notesSlides/notesSlide1.xml" Id="Rcd7a5516826a47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81e83d6d94ad3" /><Relationship Type="http://schemas.openxmlformats.org/officeDocument/2006/relationships/notesSlide" Target="/ppt/notesSlides/notesSlide2.xml" Id="Rf3a76ded9de14c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f315c1c24a497e" /><Relationship Type="http://schemas.openxmlformats.org/officeDocument/2006/relationships/notesSlide" Target="/ppt/notesSlides/notesSlide3.xml" Id="R76d5d3fe11e04a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f98dbfda04556" /><Relationship Type="http://schemas.openxmlformats.org/officeDocument/2006/relationships/notesSlide" Target="/ppt/notesSlides/notesSlide4.xml" Id="Re5cc3610db3c4a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1b291e79ba4b60" /><Relationship Type="http://schemas.openxmlformats.org/officeDocument/2006/relationships/notesSlide" Target="/ppt/notesSlides/notesSlide5.xml" Id="R04881e631c29495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029da77774a7e" /><Relationship Type="http://schemas.openxmlformats.org/officeDocument/2006/relationships/notesSlide" Target="/ppt/notesSlides/notesSlide6.xml" Id="Re1b33606af2649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8f796970114d80" /><Relationship Type="http://schemas.openxmlformats.org/officeDocument/2006/relationships/notesSlide" Target="/ppt/notesSlides/notesSlide7.xml" Id="R5a12ed818af74b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8a9e2704794904" /><Relationship Type="http://schemas.openxmlformats.org/officeDocument/2006/relationships/notesSlide" Target="/ppt/notesSlides/notesSlide8.xml" Id="Rd5662ae8fdd644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c9afb0b474ae9" /><Relationship Type="http://schemas.openxmlformats.org/officeDocument/2006/relationships/notesSlide" Target="/ppt/notesSlides/notesSlide9.xml" Id="R9b32b70055114f3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871f6221146e9" /><Relationship Type="http://schemas.openxmlformats.org/officeDocument/2006/relationships/notesSlide" Target="/ppt/notesSlides/notesSlide10.xml" Id="Rededaa6b16de49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4ea5124194a49" /><Relationship Type="http://schemas.openxmlformats.org/officeDocument/2006/relationships/notesSlide" Target="/ppt/notesSlides/notesSlide11.xml" Id="R5db376370f174fc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323675de448d3" /><Relationship Type="http://schemas.openxmlformats.org/officeDocument/2006/relationships/notesSlide" Target="/ppt/notesSlides/notesSlide12.xml" Id="Ra37543757bb040c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a6a5f54b4e4b94" /><Relationship Type="http://schemas.openxmlformats.org/officeDocument/2006/relationships/notesSlide" Target="/ppt/notesSlides/notesSlide13.xml" Id="Rbd7571cf82084ed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ac61583fb4905" /><Relationship Type="http://schemas.openxmlformats.org/officeDocument/2006/relationships/notesSlide" Target="/ppt/notesSlides/notesSlide14.xml" Id="Rc2ac3ba93766477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d55f9f1e8c46b2" /><Relationship Type="http://schemas.openxmlformats.org/officeDocument/2006/relationships/notesSlide" Target="/ppt/notesSlides/notesSlide15.xml" Id="Rf6c2d58e5df449a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ad9fc428048a0" /><Relationship Type="http://schemas.openxmlformats.org/officeDocument/2006/relationships/notesSlide" Target="/ppt/notesSlides/notesSlide16.xml" Id="R01c088c9da23488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e8e1db1469449c" /><Relationship Type="http://schemas.openxmlformats.org/officeDocument/2006/relationships/image" Target="/ppt/media/image.jpeg" Id="R2f14b0e5fb1b4b10" /><Relationship Type="http://schemas.openxmlformats.org/officeDocument/2006/relationships/notesSlide" Target="/ppt/notesSlides/notesSlide17.xml" Id="R01995b1ca887405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a7081b22a04f0d" /><Relationship Type="http://schemas.openxmlformats.org/officeDocument/2006/relationships/notesSlide" Target="/ppt/notesSlides/notesSlide18.xml" Id="R775d9b22c8d14f0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8d2f796da644ea" /><Relationship Type="http://schemas.openxmlformats.org/officeDocument/2006/relationships/image" Target="/ppt/media/image2.jpeg" Id="Rd37e9e33d8864994" /><Relationship Type="http://schemas.openxmlformats.org/officeDocument/2006/relationships/notesSlide" Target="/ppt/notesSlides/notesSlide19.xml" Id="R9e1f16453c9f479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8538889fe74014" /><Relationship Type="http://schemas.openxmlformats.org/officeDocument/2006/relationships/image" Target="/ppt/media/image3.jpeg" Id="Rb5b0c712e5274989" /><Relationship Type="http://schemas.openxmlformats.org/officeDocument/2006/relationships/notesSlide" Target="/ppt/notesSlides/notesSlide20.xml" Id="Rd7855fa999574bc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3d9b58ac840f5" /><Relationship Type="http://schemas.openxmlformats.org/officeDocument/2006/relationships/notesSlide" Target="/ppt/notesSlides/notesSlide21.xml" Id="R8fbfa2e8f571418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6dd3886d574ace" /><Relationship Type="http://schemas.openxmlformats.org/officeDocument/2006/relationships/notesSlide" Target="/ppt/notesSlides/notesSlide22.xml" Id="Rb4290296439c44c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98a99a1a14853" /><Relationship Type="http://schemas.openxmlformats.org/officeDocument/2006/relationships/notesSlide" Target="/ppt/notesSlides/notesSlide23.xml" Id="R4b4c04d172284e3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f15a30f53048fd" /><Relationship Type="http://schemas.openxmlformats.org/officeDocument/2006/relationships/notesSlide" Target="/ppt/notesSlides/notesSlide24.xml" Id="Re832b55ca3e64b1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3FCA80-CD26-411C-AA73-404A0C69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Check Point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2A4F15-974E-4338-BED5-7845E65F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5622EA-A474-4BA8-80A2-6369BAFB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08204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7243A"/>
                </a:solidFill>
                <a:latin typeface="Arial"/>
                <a:ea typeface="Arial"/>
                <a:cs typeface="Arial"/>
              </a:rPr>
              <a:t>Segurança no código</a:t>
            </a:r>
          </a:p>
          <a:p xmlns:a="http://schemas.openxmlformats.org/drawingml/2006/main">
            <a:pPr>
              <a:defRPr sz="4650" b="1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7243A"/>
                </a:solidFill>
                <a:latin typeface="Arial"/>
                <a:ea typeface="Arial"/>
                <a:cs typeface="Arial"/>
              </a:rPr>
              <a:t>e nas dependências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7F6898-DF85-4FA0-9301-72F8B064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94A88"/>
                </a:solidFill>
                <a:latin typeface="Arial"/>
                <a:ea typeface="Arial"/>
                <a:cs typeface="Arial"/>
              </a:rPr>
              <a:t>njsscan, npm audit, Datree e StackHawk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12DC7F-DF7B-4118-BC77-8A15866D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Grupo 3</a:t>
            </a:r>
          </a:p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Leonardo Garroti e Aquiles Fonseca</a:t>
            </a:r>
          </a:p>
        </p:txBody>
      </p:sp>
    </p:spTree>
    <p:extLst>
      <p:ext uri="{BB962C8B-B14F-4D97-AF65-F5344CB8AC3E}">
        <p14:creationId xmlns:p14="http://schemas.microsoft.com/office/powerpoint/2010/main" val="18602472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EC94C5-1211-45D7-A03F-4E87CFBF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Agenda e tempo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584009-5ED8-4395-8055-8EBDC920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4048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20000"/>
                <a:gridCol w="3200400"/>
              </a:tblGrid>
              <a:tr h="6746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Bloco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Tempo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</a:tr>
              <a:tr h="674688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Abertura e categorias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3 minutos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674688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As quatro ferramentas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10 minutos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674688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Laboratório com a turma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12 minutos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674688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Comparativo e conclusão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3 minutos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674688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Perguntas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2 minutos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80660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AF5723-B064-4CE4-860E-61E481F9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Quatro formas de procurar falhas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2177A1-2D27-489A-9CD3-7F1C820B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6191250"/>
                <a:gridCol w="2628900"/>
              </a:tblGrid>
              <a:tr h="7429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O que analisa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Aplicação no ar?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SAST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Código da equipe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SCA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Dependências e versões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IaC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Configuração de infraestrutura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DAST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Aplicação funcionando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53079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F79CB9-D8D6-4FE8-8E21-E3DA1503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SAST e SCA no nosso exemplo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A6C19-E27A-4FD9-A8ED-4CD5D4E2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42944-62BE-4DDE-9654-EE23A3B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SAST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243FD4-06A1-49D3-9925-5221B0EC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Entrada do usuário chega a 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A correção muda o app.js.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9ED648-B253-4C59-A17A-FEEBD1FC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SCA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F6CC1-0BCC-48B2-8DEA-771F0DBA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14625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O projeto usa lodash vulnerável.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A correção atualiza a biblioteca e o lockfile.</a:t>
            </a:r>
          </a:p>
        </p:txBody>
      </p:sp>
    </p:spTree>
    <p:extLst>
      <p:ext uri="{BB962C8B-B14F-4D97-AF65-F5344CB8AC3E}">
        <p14:creationId xmlns:p14="http://schemas.microsoft.com/office/powerpoint/2010/main" val="1123452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70E4B3-5F99-40AF-8A05-3EA226DE1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Pipeline, testes cedo e SBOM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65169B-40ED-4B7C-B4D9-28EE65D6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486650"/>
              </a:tblGrid>
              <a:tr h="6477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Momento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Teste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Code e Build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SAST e IaC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Build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SCA e lista de componentes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Test e Release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DAST com aplicação funcionando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Antes de Deploy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Conferir a configuração do ambiente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34D82D-5FFA-4733-8F56-17909D8F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SBOM é a lista de componentes. Testar cedo ajuda, e o DAST ainda tem seu papel.</a:t>
            </a:r>
          </a:p>
        </p:txBody>
      </p:sp>
    </p:spTree>
    <p:extLst>
      <p:ext uri="{BB962C8B-B14F-4D97-AF65-F5344CB8AC3E}">
        <p14:creationId xmlns:p14="http://schemas.microsoft.com/office/powerpoint/2010/main" val="11413837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5F8547-C1AD-4C38-8A41-3C6A15CA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njsscan: SAST para Node.js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4B6511-C764-416A-B377-C21D3618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C182BF-9301-4537-A475-75FAB6CC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Analisa o código sem subir o servidor.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EBFD0E-7734-44C3-87C4-023E3C1A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Ajin Abraham. Python. Licença LGPL-3.0.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1DDC5A-391D-4A40-B378-9F9D9CEC7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Versão usada: 1.0.0, com Semgrep 1.172.0.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2A9C52-885B-4E8B-943F-0BBE63E1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Combina padrões de texto e regras sobre a estrutura do código.</a:t>
            </a:r>
          </a:p>
        </p:txBody>
      </p:sp>
    </p:spTree>
    <p:extLst>
      <p:ext uri="{BB962C8B-B14F-4D97-AF65-F5344CB8AC3E}">
        <p14:creationId xmlns:p14="http://schemas.microsoft.com/office/powerpoint/2010/main" val="6095020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3B1161-BECE-4777-BE44-D7BFEB02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njsscan: o que encontramos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5E196-4C72-45FE-8B3D-330BEE7A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4191000"/>
                <a:gridCol w="2057400"/>
              </a:tblGrid>
              <a:tr h="77390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Regra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Tipo da falha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Nível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</a:tr>
              <a:tr h="773906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express_xss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CWE-79, XSS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ERROR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773906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generic_os_command_exec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CWE-78, comando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ERROR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773906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eval_nodejs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CWE-95, eval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ERROR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71C0D0-4476-42B7-937F-8E631DEF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Três ocorrências reais na versão insegura. O gate do grupo trata ERROR como HIGH.</a:t>
            </a:r>
          </a:p>
        </p:txBody>
      </p:sp>
    </p:spTree>
    <p:extLst>
      <p:ext uri="{BB962C8B-B14F-4D97-AF65-F5344CB8AC3E}">
        <p14:creationId xmlns:p14="http://schemas.microsoft.com/office/powerpoint/2010/main" val="11020577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BE2E5A-F7B9-40F8-92FE-5FA6779F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Cuidados com o njsscan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75B823-AA45-4DCE-9A38-DE72950C6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314399-5285-48E2-B8CF-B1154567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Um relatório vazio exige conferir se a análise rodou.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F5645-116B-4D50-AE90-ABD48A74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No Windows, libsast pula a etapa semântica. Usamos uma ponte para chamar o Semgrep.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19CD07-31BC-4DD2-8A9D-EF7749CE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No Docker e no GitHub Actions, a execução usa Linux.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3D125-7494-45F5-889A-3519FEC2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As regras têm limites. A revisão do alerta continua necessária.</a:t>
            </a:r>
          </a:p>
        </p:txBody>
      </p:sp>
    </p:spTree>
    <p:extLst>
      <p:ext uri="{BB962C8B-B14F-4D97-AF65-F5344CB8AC3E}">
        <p14:creationId xmlns:p14="http://schemas.microsoft.com/office/powerpoint/2010/main" val="15320669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F146AE-D92F-4487-929F-FC437A8C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npm audit: SCA das dependências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7A3AA-506B-4510-AA32-69246AEF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90C35C-95D3-4332-B74F-E1B850C0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Comando do npm, disponível desde npm 6, em 2018.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D98499-C8F6-4F64-A4E2-02B5F23E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Consulta avisos conhecidos para versões dos pacotes.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7A9F2E-4FD3-4238-8259-0E1535C5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CLI em JavaScript. Licença principal Artistic License 2.0.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B800EA-9F71-40AA-A5FF-B1000DF8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Versão usada: npm 11.12.0. Não precisa do servidor no ar.</a:t>
            </a:r>
          </a:p>
        </p:txBody>
      </p:sp>
    </p:spTree>
    <p:extLst>
      <p:ext uri="{BB962C8B-B14F-4D97-AF65-F5344CB8AC3E}">
        <p14:creationId xmlns:p14="http://schemas.microsoft.com/office/powerpoint/2010/main" val="71079664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DBD75D-2F3A-4A5A-8AC9-701829B3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npm audit: um pacote, vários avisos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11DB80-1480-4F49-B77A-7C08220D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486650"/>
              </a:tblGrid>
              <a:tr h="825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Versão do lodash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Resultado local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4.17.15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1 pacote HIGH, com vários avisos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8255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4.18.1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0 pacotes vulneráveis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F85B4-25BA-4F67-83B4-1A28F548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CVE-2020-8203 aparece no relatório, com CVSS 7,4. A presença foi confirmada, sem provar exploração na rota chunk.</a:t>
            </a:r>
          </a:p>
        </p:txBody>
      </p:sp>
    </p:spTree>
    <p:extLst>
      <p:ext uri="{BB962C8B-B14F-4D97-AF65-F5344CB8AC3E}">
        <p14:creationId xmlns:p14="http://schemas.microsoft.com/office/powerpoint/2010/main" val="63617450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C7211B-3EFC-4282-ACA1-02E24594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Datree: políticas para Kubernetes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FC90C-0F17-440E-9493-814727D1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2E6FC-8FCC-4F98-8207-40016A90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Lê manifests e compara a configuração com políticas.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01CD2D-B9AF-41AB-8454-5EBE217C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Projeto em Go, com licença Apache-2.0.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6D64BA-F92F-486F-84C4-E2CC678E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Pode verificar YAML, esquema e regras da configuração.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661968-64D9-4563-A97C-D6098346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Não precisa de uma aplicação web funcionando.</a:t>
            </a:r>
          </a:p>
        </p:txBody>
      </p:sp>
    </p:spTree>
    <p:extLst>
      <p:ext uri="{BB962C8B-B14F-4D97-AF65-F5344CB8AC3E}">
        <p14:creationId xmlns:p14="http://schemas.microsoft.com/office/powerpoint/2010/main" val="15369606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FC4066-D984-4DFC-9865-9C2946D6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Exemplo de configuração de risco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F4B57A-5A0B-4BF1-8951-FF5BFB01E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4D78B-C499-452C-927C-4C75EC6F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61912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privileged: true</a:t>
            </a:r>
          </a:p>
          <a:p xmlns:a="http://schemas.openxmlformats.org/drawingml/2006/main">
            <a:pPr>
              <a:defRPr sz="27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runAsUser: 0</a:t>
            </a:r>
          </a:p>
          <a:p xmlns:a="http://schemas.openxmlformats.org/drawingml/2006/main">
            <a:pPr>
              <a:defRPr sz="27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hostNetwork: true</a:t>
            </a:r>
          </a:p>
          <a:p xmlns:a="http://schemas.openxmlformats.org/drawingml/2006/main">
            <a:pPr>
              <a:defRPr sz="27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7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image: nginx:latest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CA711-8CAF-4FB6-AAA8-DF8334EA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190750"/>
            <a:ext cx="38100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Mais acesso para o container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Versão de imagem menos previsível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2A4976-7F4D-43DA-BA72-3F480D71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5307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Manifest próprio para discussão. Não aplicado a um cluster e não analisado por Datree.</a:t>
            </a:r>
          </a:p>
        </p:txBody>
      </p:sp>
    </p:spTree>
    <p:extLst>
      <p:ext uri="{BB962C8B-B14F-4D97-AF65-F5344CB8AC3E}">
        <p14:creationId xmlns:p14="http://schemas.microsoft.com/office/powerpoint/2010/main" val="10355964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C123CE-E015-4FD3-A968-6EAD1C9D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Datree: manutenção encerrada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E04B0-1EF2-445A-B482-8C826392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91DFFA-6D3F-4A78-A990-0ECE804E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A62534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A62534"/>
                </a:solidFill>
                <a:latin typeface="Arial"/>
                <a:ea typeface="Arial"/>
                <a:cs typeface="Arial"/>
              </a:rPr>
              <a:t>Projeto arquivado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253EE-E1A8-4954-AC4A-4DD82D40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0375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Empresa encerrada em julho de 2023.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D90A8-627B-47BC-B954-185A89A4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43325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Repositório arquivado em junho de 2024.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DDDCDE-64F7-43A7-87C3-5DA7F2CF6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86275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Última release: 1.9.19, de julho de 2023.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2E822-6DE7-44A1-BC6C-7BBD43C9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Mantivemos o nome da tabela e registramos o limite.</a:t>
            </a:r>
          </a:p>
        </p:txBody>
      </p:sp>
    </p:spTree>
    <p:extLst>
      <p:ext uri="{BB962C8B-B14F-4D97-AF65-F5344CB8AC3E}">
        <p14:creationId xmlns:p14="http://schemas.microsoft.com/office/powerpoint/2010/main" val="3001274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A5A568-DFD1-4B28-A207-9F51C15C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StackHawk: DAST com HawkScan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66111-A630-4908-BD6D-2E716BCB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4F1427-94A9-4906-97B5-A220EB99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Envia requisições para a aplicação funcionando.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D9A45-935D-4E2D-B602-6D7EAA72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Precisa alcançar as rotas e, às vezes, usar autenticação.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871A5-2FC4-414A-8474-98750CF5C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HawkScan faz a análise. A plataforma organiza os resultados.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4BDA5C-610F-46FC-8B28-F580ED911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Testes ativos precisam de um alvo próprio e ambiente de teste.</a:t>
            </a:r>
          </a:p>
        </p:txBody>
      </p:sp>
    </p:spTree>
    <p:extLst>
      <p:ext uri="{BB962C8B-B14F-4D97-AF65-F5344CB8AC3E}">
        <p14:creationId xmlns:p14="http://schemas.microsoft.com/office/powerpoint/2010/main" val="13997207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23196E-25D5-45CE-BB54-D667ADDE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StackHawk: acesso e limites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4014D1-E545-4EA8-95F9-CB0B9EEE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9CE7B7-2F71-43A0-9EB7-BB100A0E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Produto comercial, com origem no ZAP e motor próprio HSTE.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EDFE8-A0C9-40FB-82AB-CDF765603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A execução precisa de configuração, conta e chave.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BE90D-CAD7-4570-8C76-8E6149FF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A CLI permite salvar resultados em SARIF.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4E42FC-6FAE-4D86-AB36-AA67F592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Ferramenta pesquisada, sem execução DAST neste trabalho.</a:t>
            </a:r>
          </a:p>
        </p:txBody>
      </p:sp>
    </p:spTree>
    <p:extLst>
      <p:ext uri="{BB962C8B-B14F-4D97-AF65-F5344CB8AC3E}">
        <p14:creationId xmlns:p14="http://schemas.microsoft.com/office/powerpoint/2010/main" val="323362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D4CABE-4A7B-4572-8296-A64586B9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Laboratório: preparação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B0966-611D-4E0C-A87C-DBBB9E75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658DA9-DF23-409D-B43A-54434A60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243A"/>
                </a:solidFill>
                <a:latin typeface="Arial"/>
                <a:ea typeface="Arial"/>
                <a:cs typeface="Arial"/>
              </a:rPr>
              <a:t>Imagem pronta antes da aula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BE87A4-5AC8-44BA-9593-7BBA7C83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8204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docker pull node:24-bookworm-slim</a:t>
            </a:r>
          </a:p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docker compose build --pull lab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A28760-B5D5-480A-A700-81F51FA5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Aplicação própria, sem portas publicadas. O npm audit precisa de internet para consultar o registro.</a:t>
            </a:r>
          </a:p>
        </p:txBody>
      </p:sp>
    </p:spTree>
    <p:extLst>
      <p:ext uri="{BB962C8B-B14F-4D97-AF65-F5344CB8AC3E}">
        <p14:creationId xmlns:p14="http://schemas.microsoft.com/office/powerpoint/2010/main" val="12664456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63C0D3-77FA-4462-9842-50EE14FA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Versão insegura: gate bloqueado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A05314-D25E-4335-A806-EA4D4486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163EE-5613-4C84-9778-6B579A65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19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docker compose run --rm lab inseguro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5109F8-D22D-4C9C-B3C7-5E274A8C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000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njsscan: 3 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A2F1C9-AA58-42D1-8BE8-4596A684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6000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npm audit: 1 pacote HIGH.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2E8317-69FE-420B-867C-D27F1ED3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6000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Gate local: saída 1.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14b0e5fb1b4b10"/>
          <a:stretch xmlns:a="http://schemas.openxmlformats.org/drawingml/2006/main"/>
        </p:blipFill>
        <p:spPr>
          <a:xfrm xmlns:a="http://schemas.openxmlformats.org/drawingml/2006/main">
            <a:off x="7334250" y="1775894"/>
            <a:ext cx="3905250" cy="426823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8539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679DB-BFD0-4EB7-A832-5D6180B4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Leitura dos três achados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AB8CAF-0C58-4C28-AEFD-30A5978B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1428750"/>
                <a:gridCol w="5867400"/>
              </a:tblGrid>
              <a:tr h="821531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Entrada chega a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CWE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Correção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</a:tr>
              <a:tr h="821531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Resposta HTML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79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Devolver texto simples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821531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exec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78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Retirar execução de comando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821531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eval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95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Somar números validados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E7C75C-7179-4942-8585-26691C3B1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Três verdadeiros positivos na amostra revisada. A amostra é pequena e tem falhas intencionais.</a:t>
            </a:r>
          </a:p>
        </p:txBody>
      </p:sp>
    </p:spTree>
    <p:extLst>
      <p:ext uri="{BB962C8B-B14F-4D97-AF65-F5344CB8AC3E}">
        <p14:creationId xmlns:p14="http://schemas.microsoft.com/office/powerpoint/2010/main" val="1194125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9DF097-FC8B-42F0-B93A-C48313C9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Mudanças na versão corrigida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06798C-B629-4633-B39B-B710CB46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56880-95CE-4438-8046-C5BCB537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619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Texto simples no lugar de HTML com entrada.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EA4CF-F074-4E9E-A479-9468FB3F7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619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Mensagem fixa no lugar de comando recebido.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A40A15-87EB-4EC9-9680-1F4DEBEC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619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Soma validada no lugar de eval.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9C2EA-0385-4624-933F-660807C3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619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Lodash atualizado para 4.18.1.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7e9e33d8864994"/>
          <a:stretch xmlns:a="http://schemas.openxmlformats.org/drawingml/2006/main"/>
        </p:blipFill>
        <p:spPr>
          <a:xfrm xmlns:a="http://schemas.openxmlformats.org/drawingml/2006/main">
            <a:off x="7494544" y="1695450"/>
            <a:ext cx="3584661" cy="442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10852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F0375-5BD9-4A5E-BEE6-76524D78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Versão corrigida: gate aprovado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223F9A-E4B0-4A1B-BB83-06280A42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4B58D2-48A3-43C2-A38B-85A00F39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19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docker compose run --rm lab corrigido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921D2A-9998-4BC8-9D4C-834663B3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njsscan: 0 alertas.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54F78-D086-4B63-8848-8D0A2667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npm audit: 0 pacotes vulneráveis.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54F5BF-FAD2-406B-B333-B876D231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Gate local: saída 0.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b0c712e5274989"/>
          <a:stretch xmlns:a="http://schemas.openxmlformats.org/drawingml/2006/main"/>
        </p:blipFill>
        <p:spPr>
          <a:xfrm xmlns:a="http://schemas.openxmlformats.org/drawingml/2006/main">
            <a:off x="7544268" y="1695450"/>
            <a:ext cx="3485213" cy="4429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1858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60F9AD-0FD2-46A1-A702-0B6D738F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Perguntas para a turma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0FC9FD-7A4A-4674-B247-77C9E859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1DA55D-4928-45FD-8311-E481EE49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287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1. Quantas ocorrências ERROR o njsscan mostrou na versão insegura? Como o nosso gate trata esse nível?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6D3D32-3605-483D-8640-5EEC9DE0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10287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2. Qual CWE aparece no uso de eval? Qual mudança retirou essa falha?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31A6B2-A41F-45B3-B0BF-5FB49990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94A88"/>
                </a:solidFill>
                <a:latin typeface="Arial"/>
                <a:ea typeface="Arial"/>
                <a:cs typeface="Arial"/>
              </a:rPr>
              <a:t>Entrega individual: print da própria execução e respostas.</a:t>
            </a:r>
          </a:p>
        </p:txBody>
      </p:sp>
    </p:spTree>
    <p:extLst>
      <p:ext uri="{BB962C8B-B14F-4D97-AF65-F5344CB8AC3E}">
        <p14:creationId xmlns:p14="http://schemas.microsoft.com/office/powerpoint/2010/main" val="138448607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CE6D6-7476-4669-AA77-4A35F7FE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Comparativo das quatro ferramentas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7DC653-95AF-4FF2-802F-20F8BC90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3714750"/>
                <a:gridCol w="4914900"/>
              </a:tblGrid>
              <a:tr h="762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Ferramenta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Ponto útil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94A88"/>
                          </a:solidFill>
                          <a:latin typeface="Arial"/>
                          <a:ea typeface="Arial"/>
                          <a:cs typeface="Arial"/>
                        </a:rPr>
                        <a:t>Limite do nosso estudo</a:t>
                      </a:r>
                    </a:p>
                  </a:txBody>
                  <a:tcPr marL="133350" marR="133350" marT="114300" marB="114300" anchor="ctr">
                    <a:solidFill>
                      <a:srgbClr val="E9EEF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njsscan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Liga regra ao código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Alvo pequeno e ponte no Windows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npm audit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Consulta simples de avisos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Depende da base e da rede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Datree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Políticas Kubernetes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Projeto arquivado, não executado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StackHawk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Aplicação e APIs em execução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243A"/>
                          </a:solidFill>
                          <a:latin typeface="Arial"/>
                          <a:ea typeface="Arial"/>
                          <a:cs typeface="Arial"/>
                        </a:rPr>
                        <a:t>Produto comercial, não executado</a:t>
                      </a:r>
                    </a:p>
                  </a:txBody>
                  <a:tcPr marL="133350" marR="133350" marT="114300" marB="1143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000557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61B549-C4B7-4280-B8F8-BB35F880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Conclusão do trabalho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FA19E1-430F-4178-A81D-39D944C4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C6EE5-DAB3-4A2A-833E-90A3F23D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Mudar o código resolve os alertas SAST. Atualizar a biblioteca resolve o alerta SCA.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43A91-089B-417A-BB57-D265B9B6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Verificar cedo ajuda a equipe. IaC e DAST completam a cobertura.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B381E0-FCDB-4BD2-BCF1-139C9D35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Antes da aula: teste Docker do zero, confira os builds e ensaie em dupla.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F79549-02A6-481E-AD32-02C934DD3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IA ajudou na preparação. Os limites e as fontes estão declarados.</a:t>
            </a:r>
          </a:p>
        </p:txBody>
      </p:sp>
    </p:spTree>
    <p:extLst>
      <p:ext uri="{BB962C8B-B14F-4D97-AF65-F5344CB8AC3E}">
        <p14:creationId xmlns:p14="http://schemas.microsoft.com/office/powerpoint/2010/main" val="77078176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022A0-88D0-44B7-8EE6-FCAE1361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94A88"/>
                </a:solidFill>
                <a:latin typeface="Arial"/>
                <a:ea typeface="Arial"/>
                <a:cs typeface="Arial"/>
              </a:rPr>
              <a:t>Referências e perguntas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15B71E-BB19-44B8-A13F-C1BB4BF2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66CC7C-03FB-414C-B958-BAAE65BDF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Documentação oficial: njsscan, npm, Datree e StackHawk.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E0285-848E-4E78-B61D-88F74D38A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OWASP Top 10:2025 e NIST SSDF.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E0D7B-7218-48C8-B2CC-E66AAF02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90925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MITRE CWE e GitHub Advisory Database.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A5EA7C-3A9F-4ED6-856E-A58B8D58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43A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243A"/>
                </a:solidFill>
                <a:latin typeface="Arial"/>
                <a:ea typeface="Arial"/>
                <a:cs typeface="Arial"/>
              </a:rPr>
              <a:t>Referências completas no PDF e em REFERENCIAS.md.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764A3-7779-4531-964B-F9ED9A2E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94A8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94A88"/>
                </a:solidFill>
                <a:latin typeface="Arial"/>
                <a:ea typeface="Arial"/>
                <a:cs typeface="Arial"/>
              </a:rPr>
              <a:t>Leonardo Garroti e Aquiles Fonseca</a:t>
            </a:r>
          </a:p>
        </p:txBody>
      </p:sp>
    </p:spTree>
    <p:extLst>
      <p:ext uri="{BB962C8B-B14F-4D97-AF65-F5344CB8AC3E}">
        <p14:creationId xmlns:p14="http://schemas.microsoft.com/office/powerpoint/2010/main" val="15321608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2026-09-16T18:05:58.1030000Z</dcterms:created>
  <dcterms:modified xsi:type="dcterms:W3CDTF">2026-09-16T18:05:58.1030000Z</dcterms:modified>
</coreProperties>
</file>